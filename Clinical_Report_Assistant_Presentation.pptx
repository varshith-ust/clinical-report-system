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AI Clinical Report Summarization Assistant. Team 1. The deck moves from the business problem to components, five technical sections, and a short validation statement.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problem is a review process that is manual, variable, and hard to reconstruct. The solution is a source-linked workflow: validate the report, retrieve local guidance, assemble only validated facts, and stop for an explicit human decision. The next slides show the components and the five technical sections.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a thin action layer. CrewAI Flow handles sequencing, the fork, the join, and routing. The three teal boxes are the only AI agents. Guideline RAG, PDF ingestion, Pydantic validation, SQLite, and session state are supporting components. The orchestration slide shows the execution order.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the input boundary and the first agent. The PDF is validated before parsing; text is extracted page by page and hashed. The Report Analysis Agent proposes findings, but page evidence, units, and the numeric comparison are checked in code. The verified synthetic glucose example is 110 mg/dL against a supplied 70-99 mg/dL interval, which is above_range. A missing range is not inferred. Suggested section time: 2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the guideline path. Pages become overlapping chunks with deterministic IDs; local embeddings go into persistent Chroma. Retrieved passages keep document, page, and hash provenance. The quoted line is an exact sentence from the synthetic guideline on page 2. Similarity is a ranking signal, not clinical confidence. Suggested section time: 2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the summary. Gemini returns finding IDs only. Deterministic code rebuilds values, repeat groups, evidence, and mandatory uncertainties from the validated analysis. The model never writes the numeric fact it claims to summarise. Suggested section time: 2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the recommendation and the human decision. Every suggestion needs both a patient finding and a guideline passage with exact evidence. If guidance is absent, unrelated, contradictory, or too thin, the agent abstains. The draft stays pending until a person approves or rejects that exact version. Suggested section time: 2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execution order and routing. Analysis resolves first. Summary and local retrieval then run as two parallel branches. Both branches join, and the guideline fingerprint is rechecked before Recommendation. The route is recorded as reuse, generate, retrieve, abstain, await review, approved, or rejected. A compatible reused stage does not make a new Gemini call. A failed branch preserves any stage that was already saved. Suggested section time: 2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has three separate statements. The offline suite has 173 passing tests and one optional real-embedding test skipped by default; Ruff and the lockfile checks also pass. The mocked offline demo makes zero API calls and uses no network, key, or model download. A separate manual live smoke check made one synthetic Gemini request and passed; it is not part of the offline suite. Two limitations remain: this is a synthetic educational demo, not a medical device; and scanned PDFs need OCR, which is out of scope, while similarity is not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17320"/>
            <a:ext cx="10058400" cy="1920240"/>
          </a:xfrm>
          <a:prstGeom prst="rect">
            <a:avLst/>
          </a:prstGeom>
          <a:noFill/>
        </p:spPr>
        <p:txBody>
          <a:bodyPr wrap="square" anchor="t" lIns="73152" rIns="73152" tIns="27432" bIns="27432">
            <a:spAutoFit/>
          </a:bodyPr>
          <a:lstStyle/>
          <a:p>
            <a:pPr algn="l">
              <a:spcBef>
                <a:spcPts val="0"/>
              </a:spcBef>
              <a:spcAft>
                <a:spcPts val="0"/>
              </a:spcAft>
            </a:pPr>
            <a:r>
              <a:rPr sz="4600" b="1" i="0">
                <a:solidFill>
                  <a:srgbClr val="FFFFFF"/>
                </a:solidFill>
                <a:latin typeface="Segoe UI"/>
              </a:rPr>
              <a:t>AI Clinical Report</a:t>
            </a:r>
          </a:p>
          <a:p>
            <a:pPr algn="l">
              <a:spcBef>
                <a:spcPts val="0"/>
              </a:spcBef>
              <a:spcAft>
                <a:spcPts val="0"/>
              </a:spcAft>
            </a:pPr>
            <a:r>
              <a:rPr sz="4600" b="1" i="0">
                <a:solidFill>
                  <a:srgbClr val="12B3A6"/>
                </a:solidFill>
                <a:latin typeface="Segoe UI"/>
              </a:rPr>
              <a:t>Summarization Assistant</a:t>
            </a:r>
          </a:p>
        </p:txBody>
      </p:sp>
      <p:sp>
        <p:nvSpPr>
          <p:cNvPr id="5" name="Rectangle 4"/>
          <p:cNvSpPr/>
          <p:nvPr/>
        </p:nvSpPr>
        <p:spPr>
          <a:xfrm>
            <a:off x="1042415" y="3950208"/>
            <a:ext cx="1737360" cy="64008"/>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133087"/>
            <a:ext cx="5486400" cy="502920"/>
          </a:xfrm>
          <a:prstGeom prst="rect">
            <a:avLst/>
          </a:prstGeom>
          <a:noFill/>
        </p:spPr>
        <p:txBody>
          <a:bodyPr wrap="square" anchor="t" lIns="73152" rIns="73152" tIns="27432" bIns="27432">
            <a:spAutoFit/>
          </a:bodyPr>
          <a:lstStyle/>
          <a:p>
            <a:pPr algn="l">
              <a:spcBef>
                <a:spcPts val="0"/>
              </a:spcBef>
              <a:spcAft>
                <a:spcPts val="0"/>
              </a:spcAft>
            </a:pPr>
            <a:r>
              <a:rPr sz="2500" b="1" i="0">
                <a:solidFill>
                  <a:srgbClr val="FFFFFF"/>
                </a:solidFill>
                <a:latin typeface="Segoe UI"/>
              </a:rPr>
              <a:t>Team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The business problem</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Report review is slow, inconsistent, and difficult to audit.</a:t>
            </a:r>
          </a:p>
        </p:txBody>
      </p:sp>
      <p:sp>
        <p:nvSpPr>
          <p:cNvPr id="6" name="Rounded Rectangle 5"/>
          <p:cNvSpPr/>
          <p:nvPr/>
        </p:nvSpPr>
        <p:spPr>
          <a:xfrm>
            <a:off x="548640" y="1664208"/>
            <a:ext cx="4800600" cy="3886200"/>
          </a:xfrm>
          <a:prstGeom prst="roundRect">
            <a:avLst>
              <a:gd name="adj" fmla="val 6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04672" y="1810512"/>
            <a:ext cx="4297680" cy="41148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Today</a:t>
            </a:r>
          </a:p>
        </p:txBody>
      </p:sp>
      <p:sp>
        <p:nvSpPr>
          <p:cNvPr id="8" name="Oval 7"/>
          <p:cNvSpPr/>
          <p:nvPr/>
        </p:nvSpPr>
        <p:spPr>
          <a:xfrm>
            <a:off x="822960" y="2441448"/>
            <a:ext cx="384048" cy="384048"/>
          </a:xfrm>
          <a:prstGeom prst="ellipse">
            <a:avLst/>
          </a:prstGeom>
          <a:solidFill>
            <a:srgbClr val="1B3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400" b="1" i="0">
                <a:solidFill>
                  <a:srgbClr val="FFFFFF"/>
                </a:solidFill>
                <a:latin typeface="Segoe UI"/>
              </a:rPr>
              <a:t>1</a:t>
            </a:r>
          </a:p>
        </p:txBody>
      </p:sp>
      <p:sp>
        <p:nvSpPr>
          <p:cNvPr id="9" name="TextBox 8"/>
          <p:cNvSpPr txBox="1"/>
          <p:nvPr/>
        </p:nvSpPr>
        <p:spPr>
          <a:xfrm>
            <a:off x="1371600" y="2395728"/>
            <a:ext cx="3703320" cy="777240"/>
          </a:xfrm>
          <a:prstGeom prst="rect">
            <a:avLst/>
          </a:prstGeom>
          <a:noFill/>
        </p:spPr>
        <p:txBody>
          <a:bodyPr wrap="square" anchor="t" lIns="73152" rIns="73152" tIns="27432" bIns="27432">
            <a:spAutoFit/>
          </a:bodyPr>
          <a:lstStyle/>
          <a:p>
            <a:pPr algn="l">
              <a:spcBef>
                <a:spcPts val="0"/>
              </a:spcBef>
              <a:spcAft>
                <a:spcPts val="0"/>
              </a:spcAft>
            </a:pPr>
            <a:r>
              <a:rPr sz="1800" b="0" i="0">
                <a:solidFill>
                  <a:srgbClr val="1B2733"/>
                </a:solidFill>
                <a:latin typeface="Segoe UI"/>
              </a:rPr>
              <a:t>Read every report page by page.</a:t>
            </a:r>
          </a:p>
        </p:txBody>
      </p:sp>
      <p:sp>
        <p:nvSpPr>
          <p:cNvPr id="10" name="Oval 9"/>
          <p:cNvSpPr/>
          <p:nvPr/>
        </p:nvSpPr>
        <p:spPr>
          <a:xfrm>
            <a:off x="822960" y="3355848"/>
            <a:ext cx="384048" cy="384048"/>
          </a:xfrm>
          <a:prstGeom prst="ellipse">
            <a:avLst/>
          </a:prstGeom>
          <a:solidFill>
            <a:srgbClr val="1B3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400" b="1" i="0">
                <a:solidFill>
                  <a:srgbClr val="FFFFFF"/>
                </a:solidFill>
                <a:latin typeface="Segoe UI"/>
              </a:rPr>
              <a:t>2</a:t>
            </a:r>
          </a:p>
        </p:txBody>
      </p:sp>
      <p:sp>
        <p:nvSpPr>
          <p:cNvPr id="11" name="TextBox 10"/>
          <p:cNvSpPr txBox="1"/>
          <p:nvPr/>
        </p:nvSpPr>
        <p:spPr>
          <a:xfrm>
            <a:off x="1371600" y="3310128"/>
            <a:ext cx="3703320" cy="777240"/>
          </a:xfrm>
          <a:prstGeom prst="rect">
            <a:avLst/>
          </a:prstGeom>
          <a:noFill/>
        </p:spPr>
        <p:txBody>
          <a:bodyPr wrap="square" anchor="t" lIns="73152" rIns="73152" tIns="27432" bIns="27432">
            <a:spAutoFit/>
          </a:bodyPr>
          <a:lstStyle/>
          <a:p>
            <a:pPr algn="l">
              <a:spcBef>
                <a:spcPts val="0"/>
              </a:spcBef>
              <a:spcAft>
                <a:spcPts val="0"/>
              </a:spcAft>
            </a:pPr>
            <a:r>
              <a:rPr sz="1800" b="0" i="0">
                <a:solidFill>
                  <a:srgbClr val="1B2733"/>
                </a:solidFill>
                <a:latin typeface="Segoe UI"/>
              </a:rPr>
              <a:t>Check units and ranges by eye.</a:t>
            </a:r>
          </a:p>
        </p:txBody>
      </p:sp>
      <p:sp>
        <p:nvSpPr>
          <p:cNvPr id="12" name="Oval 11"/>
          <p:cNvSpPr/>
          <p:nvPr/>
        </p:nvSpPr>
        <p:spPr>
          <a:xfrm>
            <a:off x="822960" y="4270248"/>
            <a:ext cx="384048" cy="384048"/>
          </a:xfrm>
          <a:prstGeom prst="ellipse">
            <a:avLst/>
          </a:prstGeom>
          <a:solidFill>
            <a:srgbClr val="1B3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400" b="1" i="0">
                <a:solidFill>
                  <a:srgbClr val="FFFFFF"/>
                </a:solidFill>
                <a:latin typeface="Segoe UI"/>
              </a:rPr>
              <a:t>3</a:t>
            </a:r>
          </a:p>
        </p:txBody>
      </p:sp>
      <p:sp>
        <p:nvSpPr>
          <p:cNvPr id="13" name="TextBox 12"/>
          <p:cNvSpPr txBox="1"/>
          <p:nvPr/>
        </p:nvSpPr>
        <p:spPr>
          <a:xfrm>
            <a:off x="1371600" y="4224528"/>
            <a:ext cx="3703320" cy="777240"/>
          </a:xfrm>
          <a:prstGeom prst="rect">
            <a:avLst/>
          </a:prstGeom>
          <a:noFill/>
        </p:spPr>
        <p:txBody>
          <a:bodyPr wrap="square" anchor="t" lIns="73152" rIns="73152" tIns="27432" bIns="27432">
            <a:spAutoFit/>
          </a:bodyPr>
          <a:lstStyle/>
          <a:p>
            <a:pPr algn="l">
              <a:spcBef>
                <a:spcPts val="0"/>
              </a:spcBef>
              <a:spcAft>
                <a:spcPts val="0"/>
              </a:spcAft>
            </a:pPr>
            <a:r>
              <a:rPr sz="1800" b="0" i="0">
                <a:solidFill>
                  <a:srgbClr val="1B2733"/>
                </a:solidFill>
                <a:latin typeface="Segoe UI"/>
              </a:rPr>
              <a:t>Reconstruct the source chain later.</a:t>
            </a:r>
          </a:p>
        </p:txBody>
      </p:sp>
      <p:cxnSp>
        <p:nvCxnSpPr>
          <p:cNvPr id="14" name="Connector 13"/>
          <p:cNvCxnSpPr/>
          <p:nvPr/>
        </p:nvCxnSpPr>
        <p:spPr>
          <a:xfrm>
            <a:off x="5440680" y="3611880"/>
            <a:ext cx="27432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06440" y="1664208"/>
            <a:ext cx="5806440" cy="3886200"/>
          </a:xfrm>
          <a:prstGeom prst="roundRect">
            <a:avLst>
              <a:gd name="adj" fmla="val 6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6062472" y="1810512"/>
            <a:ext cx="5212080" cy="41148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Our solution</a:t>
            </a:r>
          </a:p>
        </p:txBody>
      </p:sp>
      <p:sp>
        <p:nvSpPr>
          <p:cNvPr id="17" name="Oval 16"/>
          <p:cNvSpPr/>
          <p:nvPr/>
        </p:nvSpPr>
        <p:spPr>
          <a:xfrm>
            <a:off x="6080760" y="2350008"/>
            <a:ext cx="365760" cy="365760"/>
          </a:xfrm>
          <a:prstGeom prst="ellipse">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350" b="1" i="0">
                <a:solidFill>
                  <a:srgbClr val="FFFFFF"/>
                </a:solidFill>
                <a:latin typeface="Segoe UI"/>
              </a:rPr>
              <a:t>1</a:t>
            </a:r>
          </a:p>
        </p:txBody>
      </p:sp>
      <p:sp>
        <p:nvSpPr>
          <p:cNvPr id="18" name="TextBox 17"/>
          <p:cNvSpPr txBox="1"/>
          <p:nvPr/>
        </p:nvSpPr>
        <p:spPr>
          <a:xfrm>
            <a:off x="6601968" y="2286000"/>
            <a:ext cx="4663440" cy="77724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Validate source</a:t>
            </a:r>
          </a:p>
          <a:p>
            <a:pPr algn="l">
              <a:spcBef>
                <a:spcPts val="0"/>
              </a:spcBef>
              <a:spcAft>
                <a:spcPts val="0"/>
              </a:spcAft>
            </a:pPr>
            <a:r>
              <a:rPr sz="1500" b="0" i="0">
                <a:solidFill>
                  <a:srgbClr val="5B6B7B"/>
                </a:solidFill>
                <a:latin typeface="Segoe UI"/>
              </a:rPr>
              <a:t>page + exact excerpt</a:t>
            </a:r>
          </a:p>
        </p:txBody>
      </p:sp>
      <p:sp>
        <p:nvSpPr>
          <p:cNvPr id="19" name="Oval 18"/>
          <p:cNvSpPr/>
          <p:nvPr/>
        </p:nvSpPr>
        <p:spPr>
          <a:xfrm>
            <a:off x="6080760" y="3264408"/>
            <a:ext cx="365760" cy="365760"/>
          </a:xfrm>
          <a:prstGeom prst="ellipse">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350" b="1" i="0">
                <a:solidFill>
                  <a:srgbClr val="FFFFFF"/>
                </a:solidFill>
                <a:latin typeface="Segoe UI"/>
              </a:rPr>
              <a:t>2</a:t>
            </a:r>
          </a:p>
        </p:txBody>
      </p:sp>
      <p:sp>
        <p:nvSpPr>
          <p:cNvPr id="20" name="TextBox 19"/>
          <p:cNvSpPr txBox="1"/>
          <p:nvPr/>
        </p:nvSpPr>
        <p:spPr>
          <a:xfrm>
            <a:off x="6601968" y="3200400"/>
            <a:ext cx="4663440" cy="77724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Retrieve + summarise</a:t>
            </a:r>
          </a:p>
          <a:p>
            <a:pPr algn="l">
              <a:spcBef>
                <a:spcPts val="0"/>
              </a:spcBef>
              <a:spcAft>
                <a:spcPts val="0"/>
              </a:spcAft>
            </a:pPr>
            <a:r>
              <a:rPr sz="1500" b="0" i="0">
                <a:solidFill>
                  <a:srgbClr val="5B6B7B"/>
                </a:solidFill>
                <a:latin typeface="Segoe UI"/>
              </a:rPr>
              <a:t>local guidance, deterministic facts</a:t>
            </a:r>
          </a:p>
        </p:txBody>
      </p:sp>
      <p:sp>
        <p:nvSpPr>
          <p:cNvPr id="21" name="Oval 20"/>
          <p:cNvSpPr/>
          <p:nvPr/>
        </p:nvSpPr>
        <p:spPr>
          <a:xfrm>
            <a:off x="6080760" y="4178807"/>
            <a:ext cx="365760" cy="365760"/>
          </a:xfrm>
          <a:prstGeom prst="ellipse">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Bef>
                <a:spcPts val="0"/>
              </a:spcBef>
              <a:spcAft>
                <a:spcPts val="0"/>
              </a:spcAft>
            </a:pPr>
            <a:r>
              <a:rPr sz="1350" b="1" i="0">
                <a:solidFill>
                  <a:srgbClr val="FFFFFF"/>
                </a:solidFill>
                <a:latin typeface="Segoe UI"/>
              </a:rPr>
              <a:t>3</a:t>
            </a:r>
          </a:p>
        </p:txBody>
      </p:sp>
      <p:sp>
        <p:nvSpPr>
          <p:cNvPr id="22" name="TextBox 21"/>
          <p:cNvSpPr txBox="1"/>
          <p:nvPr/>
        </p:nvSpPr>
        <p:spPr>
          <a:xfrm>
            <a:off x="6601968" y="4114800"/>
            <a:ext cx="4663440" cy="77724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Recommend + review</a:t>
            </a:r>
          </a:p>
          <a:p>
            <a:pPr algn="l">
              <a:spcBef>
                <a:spcPts val="0"/>
              </a:spcBef>
              <a:spcAft>
                <a:spcPts val="0"/>
              </a:spcAft>
            </a:pPr>
            <a:r>
              <a:rPr sz="1500" b="0" i="0">
                <a:solidFill>
                  <a:srgbClr val="5B6B7B"/>
                </a:solidFill>
                <a:latin typeface="Segoe UI"/>
              </a:rPr>
              <a:t>cite or abstain; a human decides</a:t>
            </a:r>
          </a:p>
        </p:txBody>
      </p:sp>
      <p:sp>
        <p:nvSpPr>
          <p:cNvPr id="23" name="Rounded Rectangle 22"/>
          <p:cNvSpPr/>
          <p:nvPr/>
        </p:nvSpPr>
        <p:spPr>
          <a:xfrm>
            <a:off x="548640" y="5760720"/>
            <a:ext cx="11064240" cy="621792"/>
          </a:xfrm>
          <a:prstGeom prst="roundRect">
            <a:avLst>
              <a:gd name="adj" fmla="val 8000"/>
            </a:avLst>
          </a:prstGeom>
          <a:solidFill>
            <a:srgbClr val="F5F7FA"/>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900" b="1" i="0">
                <a:solidFill>
                  <a:srgbClr val="0F2A43"/>
                </a:solidFill>
                <a:latin typeface="Segoe UI"/>
              </a:rPr>
              <a:t>A traceable draft, not an autonomous diagnosis.</a:t>
            </a:r>
          </a:p>
        </p:txBody>
      </p:sp>
      <p:sp>
        <p:nvSpPr>
          <p:cNvPr id="24" name="TextBox 23"/>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25" name="TextBox 24"/>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Architecture</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Components, boundaries, and three bounded agents.</a:t>
            </a:r>
          </a:p>
        </p:txBody>
      </p:sp>
      <p:sp>
        <p:nvSpPr>
          <p:cNvPr id="6" name="Rounded Rectangle 5"/>
          <p:cNvSpPr/>
          <p:nvPr/>
        </p:nvSpPr>
        <p:spPr>
          <a:xfrm>
            <a:off x="548640" y="1572768"/>
            <a:ext cx="11064240" cy="685800"/>
          </a:xfrm>
          <a:prstGeom prst="roundRect">
            <a:avLst>
              <a:gd name="adj" fmla="val 6000"/>
            </a:avLst>
          </a:prstGeom>
          <a:solidFill>
            <a:srgbClr val="0F2A43"/>
          </a:solidFill>
          <a:ln w="12700">
            <a:solidFill>
              <a:srgbClr val="0F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786384" y="1719072"/>
            <a:ext cx="3657600" cy="384048"/>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FFFFFF"/>
                </a:solidFill>
                <a:latin typeface="Segoe UI"/>
              </a:rPr>
              <a:t>Streamlit UI</a:t>
            </a:r>
          </a:p>
        </p:txBody>
      </p:sp>
      <p:sp>
        <p:nvSpPr>
          <p:cNvPr id="8" name="TextBox 7"/>
          <p:cNvSpPr txBox="1"/>
          <p:nvPr/>
        </p:nvSpPr>
        <p:spPr>
          <a:xfrm>
            <a:off x="4389120" y="1783080"/>
            <a:ext cx="6995160" cy="310896"/>
          </a:xfrm>
          <a:prstGeom prst="rect">
            <a:avLst/>
          </a:prstGeom>
          <a:noFill/>
        </p:spPr>
        <p:txBody>
          <a:bodyPr wrap="square" anchor="t" lIns="73152" rIns="73152" tIns="27432" bIns="27432">
            <a:spAutoFit/>
          </a:bodyPr>
          <a:lstStyle/>
          <a:p>
            <a:pPr algn="r">
              <a:spcBef>
                <a:spcPts val="0"/>
              </a:spcBef>
              <a:spcAft>
                <a:spcPts val="0"/>
              </a:spcAft>
            </a:pPr>
            <a:r>
              <a:rPr sz="1450" b="0" i="0">
                <a:solidFill>
                  <a:srgbClr val="C9D6DF"/>
                </a:solidFill>
                <a:latin typeface="Segoe UI"/>
              </a:rPr>
              <a:t>upload  ·  run  ·  evidence  ·  review</a:t>
            </a:r>
          </a:p>
        </p:txBody>
      </p:sp>
      <p:cxnSp>
        <p:nvCxnSpPr>
          <p:cNvPr id="9" name="Connector 8"/>
          <p:cNvCxnSpPr/>
          <p:nvPr/>
        </p:nvCxnSpPr>
        <p:spPr>
          <a:xfrm>
            <a:off x="6080760" y="2258568"/>
            <a:ext cx="0" cy="18288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2468880"/>
            <a:ext cx="11064240" cy="685800"/>
          </a:xfrm>
          <a:prstGeom prst="roundRect">
            <a:avLst>
              <a:gd name="adj" fmla="val 6000"/>
            </a:avLst>
          </a:prstGeom>
          <a:solidFill>
            <a:srgbClr val="1B3D5C"/>
          </a:solidFill>
          <a:ln w="12700">
            <a:solidFill>
              <a:srgbClr val="1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86384" y="2615184"/>
            <a:ext cx="3657600" cy="384048"/>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FFFFFF"/>
                </a:solidFill>
                <a:latin typeface="Segoe UI"/>
              </a:rPr>
              <a:t>CrewAI Flow</a:t>
            </a:r>
          </a:p>
        </p:txBody>
      </p:sp>
      <p:sp>
        <p:nvSpPr>
          <p:cNvPr id="12" name="TextBox 11"/>
          <p:cNvSpPr txBox="1"/>
          <p:nvPr/>
        </p:nvSpPr>
        <p:spPr>
          <a:xfrm>
            <a:off x="4206240" y="2679192"/>
            <a:ext cx="7178040" cy="310896"/>
          </a:xfrm>
          <a:prstGeom prst="rect">
            <a:avLst/>
          </a:prstGeom>
          <a:noFill/>
        </p:spPr>
        <p:txBody>
          <a:bodyPr wrap="square" anchor="t" lIns="73152" rIns="73152" tIns="27432" bIns="27432">
            <a:spAutoFit/>
          </a:bodyPr>
          <a:lstStyle/>
          <a:p>
            <a:pPr algn="r">
              <a:spcBef>
                <a:spcPts val="0"/>
              </a:spcBef>
              <a:spcAft>
                <a:spcPts val="0"/>
              </a:spcAft>
            </a:pPr>
            <a:r>
              <a:rPr sz="1450" b="0" i="0">
                <a:solidFill>
                  <a:srgbClr val="C9D6DF"/>
                </a:solidFill>
                <a:latin typeface="Segoe UI"/>
              </a:rPr>
              <a:t>resolve  ·  fork  ·  join  ·  route</a:t>
            </a:r>
          </a:p>
        </p:txBody>
      </p:sp>
      <p:cxnSp>
        <p:nvCxnSpPr>
          <p:cNvPr id="13" name="Connector 12"/>
          <p:cNvCxnSpPr/>
          <p:nvPr/>
        </p:nvCxnSpPr>
        <p:spPr>
          <a:xfrm>
            <a:off x="1810512" y="3154680"/>
            <a:ext cx="0" cy="246888"/>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62272" y="3154680"/>
            <a:ext cx="0" cy="246888"/>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14032" y="3154680"/>
            <a:ext cx="0" cy="246888"/>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40112" y="3154680"/>
            <a:ext cx="0" cy="246888"/>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429000"/>
            <a:ext cx="2514600" cy="1325880"/>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800" b="1" i="0">
                <a:solidFill>
                  <a:srgbClr val="0F2A43"/>
                </a:solidFill>
                <a:latin typeface="Segoe UI"/>
              </a:rPr>
              <a:t>Report Analysis</a:t>
            </a:r>
          </a:p>
          <a:p>
            <a:pPr algn="ctr">
              <a:spcBef>
                <a:spcPts val="0"/>
              </a:spcBef>
              <a:spcAft>
                <a:spcPts val="700"/>
              </a:spcAft>
            </a:pPr>
            <a:r>
              <a:rPr sz="1400" b="0" i="0">
                <a:solidFill>
                  <a:srgbClr val="5B6B7B"/>
                </a:solidFill>
                <a:latin typeface="Segoe UI"/>
              </a:rPr>
              <a:t>extract · validate · compare</a:t>
            </a:r>
          </a:p>
          <a:p>
            <a:pPr algn="ctr">
              <a:spcBef>
                <a:spcPts val="0"/>
              </a:spcBef>
              <a:spcAft>
                <a:spcPts val="0"/>
              </a:spcAft>
            </a:pPr>
            <a:r>
              <a:rPr sz="1350" b="1" i="0">
                <a:solidFill>
                  <a:srgbClr val="B4791E"/>
                </a:solidFill>
                <a:latin typeface="Segoe UI"/>
              </a:rPr>
              <a:t>Gemini call</a:t>
            </a:r>
          </a:p>
        </p:txBody>
      </p:sp>
      <p:sp>
        <p:nvSpPr>
          <p:cNvPr id="18" name="Rounded Rectangle 17"/>
          <p:cNvSpPr/>
          <p:nvPr/>
        </p:nvSpPr>
        <p:spPr>
          <a:xfrm>
            <a:off x="3200400" y="3429000"/>
            <a:ext cx="2514600" cy="1325880"/>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800" b="1" i="0">
                <a:solidFill>
                  <a:srgbClr val="0F2A43"/>
                </a:solidFill>
                <a:latin typeface="Segoe UI"/>
              </a:rPr>
              <a:t>Summary</a:t>
            </a:r>
          </a:p>
          <a:p>
            <a:pPr algn="ctr">
              <a:spcBef>
                <a:spcPts val="0"/>
              </a:spcBef>
              <a:spcAft>
                <a:spcPts val="700"/>
              </a:spcAft>
            </a:pPr>
            <a:r>
              <a:rPr sz="1400" b="0" i="0">
                <a:solidFill>
                  <a:srgbClr val="5B6B7B"/>
                </a:solidFill>
                <a:latin typeface="Segoe UI"/>
              </a:rPr>
              <a:t>IDs in · facts out</a:t>
            </a:r>
          </a:p>
          <a:p>
            <a:pPr algn="ctr">
              <a:spcBef>
                <a:spcPts val="0"/>
              </a:spcBef>
              <a:spcAft>
                <a:spcPts val="0"/>
              </a:spcAft>
            </a:pPr>
            <a:r>
              <a:rPr sz="1350" b="1" i="0">
                <a:solidFill>
                  <a:srgbClr val="B4791E"/>
                </a:solidFill>
                <a:latin typeface="Segoe UI"/>
              </a:rPr>
              <a:t>Gemini call</a:t>
            </a:r>
          </a:p>
        </p:txBody>
      </p:sp>
      <p:sp>
        <p:nvSpPr>
          <p:cNvPr id="19" name="Rounded Rectangle 18"/>
          <p:cNvSpPr/>
          <p:nvPr/>
        </p:nvSpPr>
        <p:spPr>
          <a:xfrm>
            <a:off x="5852160" y="3429000"/>
            <a:ext cx="2514600" cy="1325880"/>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800" b="1" i="0">
                <a:solidFill>
                  <a:srgbClr val="0F2A43"/>
                </a:solidFill>
                <a:latin typeface="Segoe UI"/>
              </a:rPr>
              <a:t>Recommendation</a:t>
            </a:r>
          </a:p>
          <a:p>
            <a:pPr algn="ctr">
              <a:spcBef>
                <a:spcPts val="0"/>
              </a:spcBef>
              <a:spcAft>
                <a:spcPts val="700"/>
              </a:spcAft>
            </a:pPr>
            <a:r>
              <a:rPr sz="1400" b="0" i="0">
                <a:solidFill>
                  <a:srgbClr val="5B6B7B"/>
                </a:solidFill>
                <a:latin typeface="Segoe UI"/>
              </a:rPr>
              <a:t>cite both sides · or abstain</a:t>
            </a:r>
          </a:p>
          <a:p>
            <a:pPr algn="ctr">
              <a:spcBef>
                <a:spcPts val="0"/>
              </a:spcBef>
              <a:spcAft>
                <a:spcPts val="0"/>
              </a:spcAft>
            </a:pPr>
            <a:r>
              <a:rPr sz="1350" b="1" i="0">
                <a:solidFill>
                  <a:srgbClr val="B4791E"/>
                </a:solidFill>
                <a:latin typeface="Segoe UI"/>
              </a:rPr>
              <a:t>Gemini call</a:t>
            </a:r>
          </a:p>
        </p:txBody>
      </p:sp>
      <p:sp>
        <p:nvSpPr>
          <p:cNvPr id="20" name="Rounded Rectangle 19"/>
          <p:cNvSpPr/>
          <p:nvPr/>
        </p:nvSpPr>
        <p:spPr>
          <a:xfrm>
            <a:off x="8503920" y="3429000"/>
            <a:ext cx="3108960" cy="1325880"/>
          </a:xfrm>
          <a:prstGeom prst="roundRect">
            <a:avLst>
              <a:gd name="adj" fmla="val 8000"/>
            </a:avLst>
          </a:prstGeom>
          <a:solidFill>
            <a:srgbClr val="F5F7FA"/>
          </a:solidFill>
          <a:ln w="12700">
            <a:solidFill>
              <a:srgbClr val="9FB3C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800" b="1" i="0">
                <a:solidFill>
                  <a:srgbClr val="0F2A43"/>
                </a:solidFill>
                <a:latin typeface="Segoe UI"/>
              </a:rPr>
              <a:t>Guideline RAG</a:t>
            </a:r>
          </a:p>
          <a:p>
            <a:pPr algn="ctr">
              <a:spcBef>
                <a:spcPts val="0"/>
              </a:spcBef>
              <a:spcAft>
                <a:spcPts val="700"/>
              </a:spcAft>
            </a:pPr>
            <a:r>
              <a:rPr sz="1400" b="0" i="0">
                <a:solidFill>
                  <a:srgbClr val="5B6B7B"/>
                </a:solidFill>
                <a:latin typeface="Segoe UI"/>
              </a:rPr>
              <a:t>chunks · embeddings · Chroma</a:t>
            </a:r>
          </a:p>
          <a:p>
            <a:pPr algn="ctr">
              <a:spcBef>
                <a:spcPts val="0"/>
              </a:spcBef>
              <a:spcAft>
                <a:spcPts val="0"/>
              </a:spcAft>
            </a:pPr>
            <a:r>
              <a:rPr sz="1350" b="1" i="0">
                <a:solidFill>
                  <a:srgbClr val="0E8C82"/>
                </a:solidFill>
                <a:latin typeface="Segoe UI"/>
              </a:rPr>
              <a:t>local · no API</a:t>
            </a:r>
          </a:p>
        </p:txBody>
      </p:sp>
      <p:sp>
        <p:nvSpPr>
          <p:cNvPr id="21" name="Rounded Rectangle 20"/>
          <p:cNvSpPr/>
          <p:nvPr/>
        </p:nvSpPr>
        <p:spPr>
          <a:xfrm>
            <a:off x="548640" y="5138928"/>
            <a:ext cx="3200400" cy="749808"/>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700" b="1" i="0">
                <a:solidFill>
                  <a:srgbClr val="0F2A43"/>
                </a:solidFill>
                <a:latin typeface="Segoe UI"/>
              </a:rPr>
              <a:t>PDF ingestion</a:t>
            </a:r>
          </a:p>
          <a:p>
            <a:pPr algn="ctr">
              <a:spcBef>
                <a:spcPts val="0"/>
              </a:spcBef>
              <a:spcAft>
                <a:spcPts val="0"/>
              </a:spcAft>
            </a:pPr>
            <a:r>
              <a:rPr sz="1400" b="0" i="0">
                <a:solidFill>
                  <a:srgbClr val="5B6B7B"/>
                </a:solidFill>
                <a:latin typeface="Segoe UI"/>
              </a:rPr>
              <a:t>in-memory gates</a:t>
            </a:r>
          </a:p>
        </p:txBody>
      </p:sp>
      <p:sp>
        <p:nvSpPr>
          <p:cNvPr id="22" name="Rounded Rectangle 21"/>
          <p:cNvSpPr/>
          <p:nvPr/>
        </p:nvSpPr>
        <p:spPr>
          <a:xfrm>
            <a:off x="4023360" y="5138928"/>
            <a:ext cx="3383280" cy="749808"/>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700" b="1" i="0">
                <a:solidFill>
                  <a:srgbClr val="0F2A43"/>
                </a:solidFill>
                <a:latin typeface="Segoe UI"/>
              </a:rPr>
              <a:t>Pydantic boundaries</a:t>
            </a:r>
          </a:p>
          <a:p>
            <a:pPr algn="ctr">
              <a:spcBef>
                <a:spcPts val="0"/>
              </a:spcBef>
              <a:spcAft>
                <a:spcPts val="0"/>
              </a:spcAft>
            </a:pPr>
            <a:r>
              <a:rPr sz="1400" b="0" i="0">
                <a:solidFill>
                  <a:srgbClr val="5B6B7B"/>
                </a:solidFill>
                <a:latin typeface="Segoe UI"/>
              </a:rPr>
              <a:t>schema + evidence</a:t>
            </a:r>
          </a:p>
        </p:txBody>
      </p:sp>
      <p:sp>
        <p:nvSpPr>
          <p:cNvPr id="23" name="Rounded Rectangle 22"/>
          <p:cNvSpPr/>
          <p:nvPr/>
        </p:nvSpPr>
        <p:spPr>
          <a:xfrm>
            <a:off x="7680960" y="5138928"/>
            <a:ext cx="3931920" cy="749808"/>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700" b="1" i="0">
                <a:solidFill>
                  <a:srgbClr val="0F2A43"/>
                </a:solidFill>
                <a:latin typeface="Segoe UI"/>
              </a:rPr>
              <a:t>SQLite store</a:t>
            </a:r>
          </a:p>
          <a:p>
            <a:pPr algn="ctr">
              <a:spcBef>
                <a:spcPts val="0"/>
              </a:spcBef>
              <a:spcAft>
                <a:spcPts val="0"/>
              </a:spcAft>
            </a:pPr>
            <a:r>
              <a:rPr sz="1400" b="0" i="0">
                <a:solidFill>
                  <a:srgbClr val="5B6B7B"/>
                </a:solidFill>
                <a:latin typeface="Segoe UI"/>
              </a:rPr>
              <a:t>immutable + review</a:t>
            </a:r>
          </a:p>
        </p:txBody>
      </p:sp>
      <p:cxnSp>
        <p:nvCxnSpPr>
          <p:cNvPr id="24" name="Connector 23"/>
          <p:cNvCxnSpPr/>
          <p:nvPr/>
        </p:nvCxnSpPr>
        <p:spPr>
          <a:xfrm flipV="1">
            <a:off x="2148840" y="4773168"/>
            <a:ext cx="0" cy="365760"/>
          </a:xfrm>
          <a:prstGeom prst="line">
            <a:avLst/>
          </a:prstGeom>
          <a:ln w="22860">
            <a:solidFill>
              <a:srgbClr val="0E8C8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267712" y="4846320"/>
            <a:ext cx="1097280" cy="274320"/>
          </a:xfrm>
          <a:prstGeom prst="rect">
            <a:avLst/>
          </a:prstGeom>
          <a:noFill/>
        </p:spPr>
        <p:txBody>
          <a:bodyPr wrap="square" anchor="t" lIns="73152" rIns="73152" tIns="27432" bIns="27432">
            <a:spAutoFit/>
          </a:bodyPr>
          <a:lstStyle/>
          <a:p>
            <a:pPr algn="l">
              <a:spcBef>
                <a:spcPts val="0"/>
              </a:spcBef>
              <a:spcAft>
                <a:spcPts val="0"/>
              </a:spcAft>
            </a:pPr>
            <a:r>
              <a:rPr sz="1400" b="0" i="0">
                <a:solidFill>
                  <a:srgbClr val="0E8C82"/>
                </a:solidFill>
                <a:latin typeface="Segoe UI"/>
              </a:rPr>
              <a:t>pages</a:t>
            </a:r>
          </a:p>
        </p:txBody>
      </p:sp>
      <p:sp>
        <p:nvSpPr>
          <p:cNvPr id="26" name="TextBox 25"/>
          <p:cNvSpPr txBox="1"/>
          <p:nvPr/>
        </p:nvSpPr>
        <p:spPr>
          <a:xfrm>
            <a:off x="548640" y="6053328"/>
            <a:ext cx="11064240" cy="274320"/>
          </a:xfrm>
          <a:prstGeom prst="rect">
            <a:avLst/>
          </a:prstGeom>
          <a:noFill/>
        </p:spPr>
        <p:txBody>
          <a:bodyPr wrap="square" anchor="t" lIns="73152" rIns="73152" tIns="27432" bIns="27432">
            <a:spAutoFit/>
          </a:bodyPr>
          <a:lstStyle/>
          <a:p>
            <a:pPr algn="l">
              <a:spcBef>
                <a:spcPts val="0"/>
              </a:spcBef>
              <a:spcAft>
                <a:spcPts val="0"/>
              </a:spcAft>
            </a:pPr>
            <a:r>
              <a:rPr sz="1350" b="0" i="1">
                <a:solidFill>
                  <a:srgbClr val="5B6B7B"/>
                </a:solidFill>
                <a:latin typeface="Segoe UI"/>
              </a:rPr>
              <a:t>Teal = agent   ·   amber = Gemini boundary   ·   grey = deterministic support</a:t>
            </a:r>
          </a:p>
        </p:txBody>
      </p:sp>
      <p:sp>
        <p:nvSpPr>
          <p:cNvPr id="27" name="TextBox 26"/>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28" name="TextBox 27"/>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Ingestion + analysis</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From PDF bytes to source-verified findings.</a:t>
            </a:r>
          </a:p>
        </p:txBody>
      </p:sp>
      <p:sp>
        <p:nvSpPr>
          <p:cNvPr id="6" name="Rounded Rectangle 5"/>
          <p:cNvSpPr/>
          <p:nvPr/>
        </p:nvSpPr>
        <p:spPr>
          <a:xfrm>
            <a:off x="548640" y="1609344"/>
            <a:ext cx="3931920" cy="4572000"/>
          </a:xfrm>
          <a:prstGeom prst="roundRect">
            <a:avLst>
              <a:gd name="adj" fmla="val 6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786384" y="1755648"/>
            <a:ext cx="338328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PDF intake</a:t>
            </a:r>
          </a:p>
        </p:txBody>
      </p:sp>
      <p:sp>
        <p:nvSpPr>
          <p:cNvPr id="8" name="Rectangle 7"/>
          <p:cNvSpPr/>
          <p:nvPr/>
        </p:nvSpPr>
        <p:spPr>
          <a:xfrm>
            <a:off x="786384" y="2350008"/>
            <a:ext cx="64008" cy="59436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313432"/>
            <a:ext cx="3200400" cy="73152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Size &amp; type</a:t>
            </a:r>
          </a:p>
          <a:p>
            <a:pPr algn="l">
              <a:spcBef>
                <a:spcPts val="0"/>
              </a:spcBef>
              <a:spcAft>
                <a:spcPts val="0"/>
              </a:spcAft>
            </a:pPr>
            <a:r>
              <a:rPr sz="1450" b="0" i="0">
                <a:solidFill>
                  <a:srgbClr val="5B6B7B"/>
                </a:solidFill>
                <a:latin typeface="Segoe UI"/>
              </a:rPr>
              <a:t>≤ 10 MiB  ·  %PDF</a:t>
            </a:r>
          </a:p>
        </p:txBody>
      </p:sp>
      <p:sp>
        <p:nvSpPr>
          <p:cNvPr id="10" name="Rectangle 9"/>
          <p:cNvSpPr/>
          <p:nvPr/>
        </p:nvSpPr>
        <p:spPr>
          <a:xfrm>
            <a:off x="786384" y="3218688"/>
            <a:ext cx="64008" cy="59436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182112"/>
            <a:ext cx="3200400" cy="73152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Parse</a:t>
            </a:r>
          </a:p>
          <a:p>
            <a:pPr algn="l">
              <a:spcBef>
                <a:spcPts val="0"/>
              </a:spcBef>
              <a:spcAft>
                <a:spcPts val="0"/>
              </a:spcAft>
            </a:pPr>
            <a:r>
              <a:rPr sz="1450" b="0" i="0">
                <a:solidFill>
                  <a:srgbClr val="5B6B7B"/>
                </a:solidFill>
                <a:latin typeface="Segoe UI"/>
              </a:rPr>
              <a:t>pypdf  ·  page text</a:t>
            </a:r>
          </a:p>
        </p:txBody>
      </p:sp>
      <p:sp>
        <p:nvSpPr>
          <p:cNvPr id="12" name="Rectangle 11"/>
          <p:cNvSpPr/>
          <p:nvPr/>
        </p:nvSpPr>
        <p:spPr>
          <a:xfrm>
            <a:off x="786384" y="4087368"/>
            <a:ext cx="64008" cy="59436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050792"/>
            <a:ext cx="3200400" cy="73152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Identity</a:t>
            </a:r>
          </a:p>
          <a:p>
            <a:pPr algn="l">
              <a:spcBef>
                <a:spcPts val="0"/>
              </a:spcBef>
              <a:spcAft>
                <a:spcPts val="0"/>
              </a:spcAft>
            </a:pPr>
            <a:r>
              <a:rPr sz="1450" b="0" i="0">
                <a:solidFill>
                  <a:srgbClr val="5B6B7B"/>
                </a:solidFill>
                <a:latin typeface="Segoe UI"/>
              </a:rPr>
              <a:t>SHA-256  ·  in memory</a:t>
            </a:r>
          </a:p>
        </p:txBody>
      </p:sp>
      <p:sp>
        <p:nvSpPr>
          <p:cNvPr id="14" name="Rectangle 13"/>
          <p:cNvSpPr/>
          <p:nvPr/>
        </p:nvSpPr>
        <p:spPr>
          <a:xfrm>
            <a:off x="786384" y="4956048"/>
            <a:ext cx="64008" cy="594360"/>
          </a:xfrm>
          <a:prstGeom prst="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919472"/>
            <a:ext cx="3200400" cy="731520"/>
          </a:xfrm>
          <a:prstGeom prst="rect">
            <a:avLst/>
          </a:prstGeom>
          <a:noFill/>
        </p:spPr>
        <p:txBody>
          <a:bodyPr wrap="square" anchor="t" lIns="73152" rIns="73152" tIns="27432" bIns="27432">
            <a:spAutoFit/>
          </a:bodyPr>
          <a:lstStyle/>
          <a:p>
            <a:pPr algn="l">
              <a:spcBef>
                <a:spcPts val="0"/>
              </a:spcBef>
              <a:spcAft>
                <a:spcPts val="100"/>
              </a:spcAft>
            </a:pPr>
            <a:r>
              <a:rPr sz="1800" b="1" i="0">
                <a:solidFill>
                  <a:srgbClr val="0F2A43"/>
                </a:solidFill>
                <a:latin typeface="Segoe UI"/>
              </a:rPr>
              <a:t>No text</a:t>
            </a:r>
          </a:p>
          <a:p>
            <a:pPr algn="l">
              <a:spcBef>
                <a:spcPts val="0"/>
              </a:spcBef>
              <a:spcAft>
                <a:spcPts val="0"/>
              </a:spcAft>
            </a:pPr>
            <a:r>
              <a:rPr sz="1450" b="0" i="0">
                <a:solidFill>
                  <a:srgbClr val="5B6B7B"/>
                </a:solidFill>
                <a:latin typeface="Segoe UI"/>
              </a:rPr>
              <a:t>OCR warning only</a:t>
            </a:r>
          </a:p>
        </p:txBody>
      </p:sp>
      <p:sp>
        <p:nvSpPr>
          <p:cNvPr id="16" name="TextBox 15"/>
          <p:cNvSpPr txBox="1"/>
          <p:nvPr/>
        </p:nvSpPr>
        <p:spPr>
          <a:xfrm>
            <a:off x="786384" y="5806440"/>
            <a:ext cx="3383280" cy="274320"/>
          </a:xfrm>
          <a:prstGeom prst="rect">
            <a:avLst/>
          </a:prstGeom>
          <a:noFill/>
        </p:spPr>
        <p:txBody>
          <a:bodyPr wrap="square" anchor="t" lIns="73152" rIns="73152" tIns="27432" bIns="27432">
            <a:spAutoFit/>
          </a:bodyPr>
          <a:lstStyle/>
          <a:p>
            <a:pPr algn="l">
              <a:spcBef>
                <a:spcPts val="0"/>
              </a:spcBef>
              <a:spcAft>
                <a:spcPts val="0"/>
              </a:spcAft>
            </a:pPr>
            <a:r>
              <a:rPr sz="1500" b="1" i="0">
                <a:solidFill>
                  <a:srgbClr val="0E8C82"/>
                </a:solidFill>
                <a:latin typeface="Segoe UI"/>
              </a:rPr>
              <a:t>No PDF bytes written to disk.</a:t>
            </a:r>
          </a:p>
        </p:txBody>
      </p:sp>
      <p:sp>
        <p:nvSpPr>
          <p:cNvPr id="17" name="Rounded Rectangle 16"/>
          <p:cNvSpPr/>
          <p:nvPr/>
        </p:nvSpPr>
        <p:spPr>
          <a:xfrm>
            <a:off x="4800600" y="1691640"/>
            <a:ext cx="2057400" cy="822960"/>
          </a:xfrm>
          <a:prstGeom prst="roundRect">
            <a:avLst>
              <a:gd name="adj" fmla="val 8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800" b="1" i="0">
                <a:solidFill>
                  <a:srgbClr val="0F2A43"/>
                </a:solidFill>
                <a:latin typeface="Segoe UI"/>
              </a:rPr>
              <a:t>Extract</a:t>
            </a:r>
          </a:p>
          <a:p>
            <a:pPr algn="ctr">
              <a:spcBef>
                <a:spcPts val="0"/>
              </a:spcBef>
              <a:spcAft>
                <a:spcPts val="0"/>
              </a:spcAft>
            </a:pPr>
            <a:r>
              <a:rPr sz="1450" b="0" i="0">
                <a:solidFill>
                  <a:srgbClr val="5B6B7B"/>
                </a:solidFill>
                <a:latin typeface="Segoe UI"/>
              </a:rPr>
              <a:t>findings</a:t>
            </a:r>
          </a:p>
        </p:txBody>
      </p:sp>
      <p:cxnSp>
        <p:nvCxnSpPr>
          <p:cNvPr id="18" name="Connector 17"/>
          <p:cNvCxnSpPr/>
          <p:nvPr/>
        </p:nvCxnSpPr>
        <p:spPr>
          <a:xfrm>
            <a:off x="6858000" y="2103120"/>
            <a:ext cx="32004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178040" y="1691640"/>
            <a:ext cx="2057400" cy="822960"/>
          </a:xfrm>
          <a:prstGeom prst="roundRect">
            <a:avLst>
              <a:gd name="adj" fmla="val 8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800" b="1" i="0">
                <a:solidFill>
                  <a:srgbClr val="0F2A43"/>
                </a:solidFill>
                <a:latin typeface="Segoe UI"/>
              </a:rPr>
              <a:t>Validate</a:t>
            </a:r>
          </a:p>
          <a:p>
            <a:pPr algn="ctr">
              <a:spcBef>
                <a:spcPts val="0"/>
              </a:spcBef>
              <a:spcAft>
                <a:spcPts val="0"/>
              </a:spcAft>
            </a:pPr>
            <a:r>
              <a:rPr sz="1450" b="0" i="0">
                <a:solidFill>
                  <a:srgbClr val="5B6B7B"/>
                </a:solidFill>
                <a:latin typeface="Segoe UI"/>
              </a:rPr>
              <a:t>page + excerpt</a:t>
            </a:r>
          </a:p>
        </p:txBody>
      </p:sp>
      <p:cxnSp>
        <p:nvCxnSpPr>
          <p:cNvPr id="20" name="Connector 19"/>
          <p:cNvCxnSpPr/>
          <p:nvPr/>
        </p:nvCxnSpPr>
        <p:spPr>
          <a:xfrm>
            <a:off x="9235440" y="2103120"/>
            <a:ext cx="32004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55480" y="1691640"/>
            <a:ext cx="2057400" cy="822960"/>
          </a:xfrm>
          <a:prstGeom prst="roundRect">
            <a:avLst>
              <a:gd name="adj" fmla="val 8000"/>
            </a:avLst>
          </a:prstGeom>
          <a:solidFill>
            <a:srgbClr val="FFFFFF"/>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1800" b="1" i="0">
                <a:solidFill>
                  <a:srgbClr val="0F2A43"/>
                </a:solidFill>
                <a:latin typeface="Segoe UI"/>
              </a:rPr>
              <a:t>Compare</a:t>
            </a:r>
          </a:p>
          <a:p>
            <a:pPr algn="ctr">
              <a:spcBef>
                <a:spcPts val="0"/>
              </a:spcBef>
              <a:spcAft>
                <a:spcPts val="0"/>
              </a:spcAft>
            </a:pPr>
            <a:r>
              <a:rPr sz="1450" b="0" i="0">
                <a:solidFill>
                  <a:srgbClr val="5B6B7B"/>
                </a:solidFill>
                <a:latin typeface="Segoe UI"/>
              </a:rPr>
              <a:t>Decimal</a:t>
            </a:r>
          </a:p>
        </p:txBody>
      </p:sp>
      <p:sp>
        <p:nvSpPr>
          <p:cNvPr id="22" name="Rounded Rectangle 21"/>
          <p:cNvSpPr/>
          <p:nvPr/>
        </p:nvSpPr>
        <p:spPr>
          <a:xfrm>
            <a:off x="4800600" y="2788920"/>
            <a:ext cx="6812280" cy="1417320"/>
          </a:xfrm>
          <a:prstGeom prst="roundRect">
            <a:avLst>
              <a:gd name="adj" fmla="val 6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TextBox 22"/>
          <p:cNvSpPr txBox="1"/>
          <p:nvPr/>
        </p:nvSpPr>
        <p:spPr>
          <a:xfrm>
            <a:off x="5010912" y="2871216"/>
            <a:ext cx="3657600" cy="274320"/>
          </a:xfrm>
          <a:prstGeom prst="rect">
            <a:avLst/>
          </a:prstGeom>
          <a:noFill/>
        </p:spPr>
        <p:txBody>
          <a:bodyPr wrap="square" anchor="t" lIns="73152" rIns="73152" tIns="27432" bIns="27432">
            <a:spAutoFit/>
          </a:bodyPr>
          <a:lstStyle/>
          <a:p>
            <a:pPr algn="l">
              <a:spcBef>
                <a:spcPts val="0"/>
              </a:spcBef>
              <a:spcAft>
                <a:spcPts val="0"/>
              </a:spcAft>
            </a:pPr>
            <a:r>
              <a:rPr sz="1400" b="1" i="0">
                <a:solidFill>
                  <a:srgbClr val="5B6B7B"/>
                </a:solidFill>
                <a:latin typeface="Segoe UI"/>
              </a:rPr>
              <a:t>Verified synthetic example</a:t>
            </a:r>
          </a:p>
        </p:txBody>
      </p:sp>
      <p:sp>
        <p:nvSpPr>
          <p:cNvPr id="24" name="TextBox 23"/>
          <p:cNvSpPr txBox="1"/>
          <p:nvPr/>
        </p:nvSpPr>
        <p:spPr>
          <a:xfrm>
            <a:off x="5010912" y="3163824"/>
            <a:ext cx="2331720" cy="548640"/>
          </a:xfrm>
          <a:prstGeom prst="rect">
            <a:avLst/>
          </a:prstGeom>
          <a:noFill/>
        </p:spPr>
        <p:txBody>
          <a:bodyPr wrap="square" anchor="t" lIns="73152" rIns="73152" tIns="27432" bIns="27432">
            <a:spAutoFit/>
          </a:bodyPr>
          <a:lstStyle/>
          <a:p>
            <a:pPr algn="l">
              <a:spcBef>
                <a:spcPts val="0"/>
              </a:spcBef>
              <a:spcAft>
                <a:spcPts val="0"/>
              </a:spcAft>
            </a:pPr>
            <a:r>
              <a:rPr sz="3000" b="1" i="0">
                <a:solidFill>
                  <a:srgbClr val="0F2A43"/>
                </a:solidFill>
                <a:latin typeface="Segoe UI"/>
              </a:rPr>
              <a:t>110 mg/dL</a:t>
            </a:r>
          </a:p>
        </p:txBody>
      </p:sp>
      <p:sp>
        <p:nvSpPr>
          <p:cNvPr id="25" name="TextBox 24"/>
          <p:cNvSpPr txBox="1"/>
          <p:nvPr/>
        </p:nvSpPr>
        <p:spPr>
          <a:xfrm>
            <a:off x="7388352" y="3255264"/>
            <a:ext cx="1828800" cy="365760"/>
          </a:xfrm>
          <a:prstGeom prst="rect">
            <a:avLst/>
          </a:prstGeom>
          <a:noFill/>
        </p:spPr>
        <p:txBody>
          <a:bodyPr wrap="square" anchor="t" lIns="73152" rIns="73152" tIns="27432" bIns="27432">
            <a:spAutoFit/>
          </a:bodyPr>
          <a:lstStyle/>
          <a:p>
            <a:pPr algn="l">
              <a:spcBef>
                <a:spcPts val="0"/>
              </a:spcBef>
              <a:spcAft>
                <a:spcPts val="0"/>
              </a:spcAft>
            </a:pPr>
            <a:r>
              <a:rPr sz="1800" b="0" i="0">
                <a:solidFill>
                  <a:srgbClr val="5B6B7B"/>
                </a:solidFill>
                <a:latin typeface="Segoe UI"/>
              </a:rPr>
              <a:t>vs 70–99 mg/dL</a:t>
            </a:r>
          </a:p>
        </p:txBody>
      </p:sp>
      <p:sp>
        <p:nvSpPr>
          <p:cNvPr id="26" name="Rounded Rectangle 25"/>
          <p:cNvSpPr/>
          <p:nvPr/>
        </p:nvSpPr>
        <p:spPr>
          <a:xfrm>
            <a:off x="9418320" y="3200400"/>
            <a:ext cx="1920240" cy="411480"/>
          </a:xfrm>
          <a:prstGeom prst="roundRect">
            <a:avLst>
              <a:gd name="adj" fmla="val 50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600" b="1" i="0">
                <a:solidFill>
                  <a:srgbClr val="0E8C82"/>
                </a:solidFill>
                <a:latin typeface="Segoe UI"/>
              </a:rPr>
              <a:t>above_range</a:t>
            </a:r>
          </a:p>
        </p:txBody>
      </p:sp>
      <p:sp>
        <p:nvSpPr>
          <p:cNvPr id="27" name="TextBox 26"/>
          <p:cNvSpPr txBox="1"/>
          <p:nvPr/>
        </p:nvSpPr>
        <p:spPr>
          <a:xfrm>
            <a:off x="4800600" y="4370832"/>
            <a:ext cx="3108960" cy="274320"/>
          </a:xfrm>
          <a:prstGeom prst="rect">
            <a:avLst/>
          </a:prstGeom>
          <a:noFill/>
        </p:spPr>
        <p:txBody>
          <a:bodyPr wrap="square" anchor="t" lIns="73152" rIns="73152" tIns="27432" bIns="27432">
            <a:spAutoFit/>
          </a:bodyPr>
          <a:lstStyle/>
          <a:p>
            <a:pPr algn="l">
              <a:spcBef>
                <a:spcPts val="0"/>
              </a:spcBef>
              <a:spcAft>
                <a:spcPts val="0"/>
              </a:spcAft>
            </a:pPr>
            <a:r>
              <a:rPr sz="1400" b="1" i="0">
                <a:solidFill>
                  <a:srgbClr val="5B6B7B"/>
                </a:solidFill>
                <a:latin typeface="Segoe UI"/>
              </a:rPr>
              <a:t>SEPARATED OUTPUTS</a:t>
            </a:r>
          </a:p>
        </p:txBody>
      </p:sp>
      <p:sp>
        <p:nvSpPr>
          <p:cNvPr id="28" name="Rounded Rectangle 27"/>
          <p:cNvSpPr/>
          <p:nvPr/>
        </p:nvSpPr>
        <p:spPr>
          <a:xfrm>
            <a:off x="4800600" y="4645152"/>
            <a:ext cx="1554480" cy="45720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1" i="0">
                <a:solidFill>
                  <a:srgbClr val="0F2A43"/>
                </a:solidFill>
                <a:latin typeface="Segoe UI"/>
              </a:rPr>
              <a:t>Patient</a:t>
            </a:r>
          </a:p>
        </p:txBody>
      </p:sp>
      <p:sp>
        <p:nvSpPr>
          <p:cNvPr id="29" name="Rounded Rectangle 28"/>
          <p:cNvSpPr/>
          <p:nvPr/>
        </p:nvSpPr>
        <p:spPr>
          <a:xfrm>
            <a:off x="6492240" y="4645152"/>
            <a:ext cx="1554480" cy="45720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1" i="0">
                <a:solidFill>
                  <a:srgbClr val="0F2A43"/>
                </a:solidFill>
                <a:latin typeface="Segoe UI"/>
              </a:rPr>
              <a:t>Narrative</a:t>
            </a:r>
          </a:p>
        </p:txBody>
      </p:sp>
      <p:sp>
        <p:nvSpPr>
          <p:cNvPr id="30" name="Rounded Rectangle 29"/>
          <p:cNvSpPr/>
          <p:nvPr/>
        </p:nvSpPr>
        <p:spPr>
          <a:xfrm>
            <a:off x="8183879" y="4645152"/>
            <a:ext cx="1554480" cy="45720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1" i="0">
                <a:solidFill>
                  <a:srgbClr val="0F2A43"/>
                </a:solidFill>
                <a:latin typeface="Segoe UI"/>
              </a:rPr>
              <a:t>Control</a:t>
            </a:r>
          </a:p>
        </p:txBody>
      </p:sp>
      <p:sp>
        <p:nvSpPr>
          <p:cNvPr id="31" name="Rounded Rectangle 30"/>
          <p:cNvSpPr/>
          <p:nvPr/>
        </p:nvSpPr>
        <p:spPr>
          <a:xfrm>
            <a:off x="9875519" y="4645152"/>
            <a:ext cx="1554480" cy="45720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1" i="0">
                <a:solidFill>
                  <a:srgbClr val="0F2A43"/>
                </a:solidFill>
                <a:latin typeface="Segoe UI"/>
              </a:rPr>
              <a:t>Warnings</a:t>
            </a:r>
          </a:p>
        </p:txBody>
      </p:sp>
      <p:sp>
        <p:nvSpPr>
          <p:cNvPr id="32" name="Rounded Rectangle 31"/>
          <p:cNvSpPr/>
          <p:nvPr/>
        </p:nvSpPr>
        <p:spPr>
          <a:xfrm>
            <a:off x="4800600" y="5285232"/>
            <a:ext cx="6812280" cy="594360"/>
          </a:xfrm>
          <a:prstGeom prst="roundRect">
            <a:avLst>
              <a:gd name="adj" fmla="val 8000"/>
            </a:avLst>
          </a:prstGeom>
          <a:solidFill>
            <a:srgbClr val="0F2A43"/>
          </a:solidFill>
          <a:ln w="12700">
            <a:solidFill>
              <a:srgbClr val="0F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2000" b="1" i="0">
                <a:solidFill>
                  <a:srgbClr val="FFFFFF"/>
                </a:solidFill>
                <a:latin typeface="Segoe UI"/>
              </a:rPr>
              <a:t>The model proposes.  Code checks.</a:t>
            </a:r>
          </a:p>
        </p:txBody>
      </p:sp>
      <p:sp>
        <p:nvSpPr>
          <p:cNvPr id="33" name="TextBox 32"/>
          <p:cNvSpPr txBox="1"/>
          <p:nvPr/>
        </p:nvSpPr>
        <p:spPr>
          <a:xfrm>
            <a:off x="4800600" y="5989320"/>
            <a:ext cx="6812280" cy="292608"/>
          </a:xfrm>
          <a:prstGeom prst="rect">
            <a:avLst/>
          </a:prstGeom>
          <a:noFill/>
        </p:spPr>
        <p:txBody>
          <a:bodyPr wrap="square" anchor="t" lIns="73152" rIns="73152" tIns="27432" bIns="27432">
            <a:spAutoFit/>
          </a:bodyPr>
          <a:lstStyle/>
          <a:p>
            <a:pPr algn="l">
              <a:spcBef>
                <a:spcPts val="0"/>
              </a:spcBef>
              <a:spcAft>
                <a:spcPts val="0"/>
              </a:spcAft>
            </a:pPr>
            <a:r>
              <a:rPr sz="1500" b="0" i="1">
                <a:solidFill>
                  <a:srgbClr val="5B6B7B"/>
                </a:solidFill>
                <a:latin typeface="Segoe UI"/>
              </a:rPr>
              <a:t>Missing range → not assessed   ·   unit mismatch → review</a:t>
            </a:r>
          </a:p>
        </p:txBody>
      </p:sp>
      <p:sp>
        <p:nvSpPr>
          <p:cNvPr id="34" name="TextBox 33"/>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35" name="TextBox 34"/>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Guideline RAG</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Local retrieval with exact page provenance.</a:t>
            </a:r>
          </a:p>
        </p:txBody>
      </p:sp>
      <p:sp>
        <p:nvSpPr>
          <p:cNvPr id="6" name="Rounded Rectangle 5"/>
          <p:cNvSpPr/>
          <p:nvPr/>
        </p:nvSpPr>
        <p:spPr>
          <a:xfrm>
            <a:off x="548640" y="1645920"/>
            <a:ext cx="1965960" cy="109728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300"/>
              </a:spcAft>
            </a:pPr>
            <a:r>
              <a:rPr sz="1800" b="1" i="0">
                <a:solidFill>
                  <a:srgbClr val="0F2A43"/>
                </a:solidFill>
                <a:latin typeface="Segoe UI"/>
              </a:rPr>
              <a:t>Guideline PDF</a:t>
            </a:r>
          </a:p>
          <a:p>
            <a:pPr algn="ctr">
              <a:spcBef>
                <a:spcPts val="0"/>
              </a:spcBef>
              <a:spcAft>
                <a:spcPts val="0"/>
              </a:spcAft>
            </a:pPr>
            <a:r>
              <a:rPr sz="1450" b="0" i="0">
                <a:solidFill>
                  <a:srgbClr val="5B6B7B"/>
                </a:solidFill>
                <a:latin typeface="Segoe UI"/>
              </a:rPr>
              <a:t>selectable text</a:t>
            </a:r>
          </a:p>
        </p:txBody>
      </p:sp>
      <p:cxnSp>
        <p:nvCxnSpPr>
          <p:cNvPr id="7" name="Connector 6"/>
          <p:cNvCxnSpPr/>
          <p:nvPr/>
        </p:nvCxnSpPr>
        <p:spPr>
          <a:xfrm>
            <a:off x="2514600" y="2194560"/>
            <a:ext cx="27432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88920" y="1645920"/>
            <a:ext cx="1965960" cy="1097280"/>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300"/>
              </a:spcAft>
            </a:pPr>
            <a:r>
              <a:rPr sz="1800" b="1" i="0">
                <a:solidFill>
                  <a:srgbClr val="0F2A43"/>
                </a:solidFill>
                <a:latin typeface="Segoe UI"/>
              </a:rPr>
              <a:t>Chunks</a:t>
            </a:r>
          </a:p>
          <a:p>
            <a:pPr algn="ctr">
              <a:spcBef>
                <a:spcPts val="0"/>
              </a:spcBef>
              <a:spcAft>
                <a:spcPts val="0"/>
              </a:spcAft>
            </a:pPr>
            <a:r>
              <a:rPr sz="1450" b="0" i="0">
                <a:solidFill>
                  <a:srgbClr val="5B6B7B"/>
                </a:solidFill>
                <a:latin typeface="Segoe UI"/>
              </a:rPr>
              <a:t>800 / 120</a:t>
            </a:r>
          </a:p>
        </p:txBody>
      </p:sp>
      <p:cxnSp>
        <p:nvCxnSpPr>
          <p:cNvPr id="9" name="Connector 8"/>
          <p:cNvCxnSpPr/>
          <p:nvPr/>
        </p:nvCxnSpPr>
        <p:spPr>
          <a:xfrm>
            <a:off x="4754880" y="2194560"/>
            <a:ext cx="27432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0" y="1645920"/>
            <a:ext cx="1965960" cy="1097280"/>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300"/>
              </a:spcAft>
            </a:pPr>
            <a:r>
              <a:rPr sz="1800" b="1" i="0">
                <a:solidFill>
                  <a:srgbClr val="0F2A43"/>
                </a:solidFill>
                <a:latin typeface="Segoe UI"/>
              </a:rPr>
              <a:t>Embeddings</a:t>
            </a:r>
          </a:p>
          <a:p>
            <a:pPr algn="ctr">
              <a:spcBef>
                <a:spcPts val="0"/>
              </a:spcBef>
              <a:spcAft>
                <a:spcPts val="0"/>
              </a:spcAft>
            </a:pPr>
            <a:r>
              <a:rPr sz="1450" b="0" i="0">
                <a:solidFill>
                  <a:srgbClr val="5B6B7B"/>
                </a:solidFill>
                <a:latin typeface="Segoe UI"/>
              </a:rPr>
              <a:t>384-d local</a:t>
            </a:r>
          </a:p>
        </p:txBody>
      </p:sp>
      <p:cxnSp>
        <p:nvCxnSpPr>
          <p:cNvPr id="11" name="Connector 10"/>
          <p:cNvCxnSpPr/>
          <p:nvPr/>
        </p:nvCxnSpPr>
        <p:spPr>
          <a:xfrm>
            <a:off x="6995160" y="2194560"/>
            <a:ext cx="27432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269480" y="1645920"/>
            <a:ext cx="1965960" cy="109728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300"/>
              </a:spcAft>
            </a:pPr>
            <a:r>
              <a:rPr sz="1800" b="1" i="0">
                <a:solidFill>
                  <a:srgbClr val="0F2A43"/>
                </a:solidFill>
                <a:latin typeface="Segoe UI"/>
              </a:rPr>
              <a:t>Chroma</a:t>
            </a:r>
          </a:p>
          <a:p>
            <a:pPr algn="ctr">
              <a:spcBef>
                <a:spcPts val="0"/>
              </a:spcBef>
              <a:spcAft>
                <a:spcPts val="0"/>
              </a:spcAft>
            </a:pPr>
            <a:r>
              <a:rPr sz="1450" b="0" i="0">
                <a:solidFill>
                  <a:srgbClr val="5B6B7B"/>
                </a:solidFill>
                <a:latin typeface="Segoe UI"/>
              </a:rPr>
              <a:t>persistent</a:t>
            </a:r>
          </a:p>
        </p:txBody>
      </p:sp>
      <p:cxnSp>
        <p:nvCxnSpPr>
          <p:cNvPr id="13" name="Connector 12"/>
          <p:cNvCxnSpPr/>
          <p:nvPr/>
        </p:nvCxnSpPr>
        <p:spPr>
          <a:xfrm>
            <a:off x="9235440" y="2194560"/>
            <a:ext cx="27432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509760" y="1645920"/>
            <a:ext cx="1965960" cy="109728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300"/>
              </a:spcAft>
            </a:pPr>
            <a:r>
              <a:rPr sz="1800" b="1" i="0">
                <a:solidFill>
                  <a:srgbClr val="0F2A43"/>
                </a:solidFill>
                <a:latin typeface="Segoe UI"/>
              </a:rPr>
              <a:t>Passages</a:t>
            </a:r>
          </a:p>
          <a:p>
            <a:pPr algn="ctr">
              <a:spcBef>
                <a:spcPts val="0"/>
              </a:spcBef>
              <a:spcAft>
                <a:spcPts val="0"/>
              </a:spcAft>
            </a:pPr>
            <a:r>
              <a:rPr sz="1450" b="0" i="0">
                <a:solidFill>
                  <a:srgbClr val="5B6B7B"/>
                </a:solidFill>
                <a:latin typeface="Segoe UI"/>
              </a:rPr>
              <a:t>page + hash</a:t>
            </a:r>
          </a:p>
        </p:txBody>
      </p:sp>
      <p:sp>
        <p:nvSpPr>
          <p:cNvPr id="15" name="Rounded Rectangle 14"/>
          <p:cNvSpPr/>
          <p:nvPr/>
        </p:nvSpPr>
        <p:spPr>
          <a:xfrm>
            <a:off x="548640" y="3063240"/>
            <a:ext cx="6583680" cy="1188720"/>
          </a:xfrm>
          <a:prstGeom prst="roundRect">
            <a:avLst>
              <a:gd name="adj" fmla="val 6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768096" y="3182112"/>
            <a:ext cx="3657600" cy="320040"/>
          </a:xfrm>
          <a:prstGeom prst="rect">
            <a:avLst/>
          </a:prstGeom>
          <a:noFill/>
        </p:spPr>
        <p:txBody>
          <a:bodyPr wrap="square" anchor="t" lIns="73152" rIns="73152" tIns="27432" bIns="27432">
            <a:spAutoFit/>
          </a:bodyPr>
          <a:lstStyle/>
          <a:p>
            <a:pPr algn="l">
              <a:spcBef>
                <a:spcPts val="0"/>
              </a:spcBef>
              <a:spcAft>
                <a:spcPts val="0"/>
              </a:spcAft>
            </a:pPr>
            <a:r>
              <a:rPr sz="1800" b="1" i="0">
                <a:solidFill>
                  <a:srgbClr val="0F2A43"/>
                </a:solidFill>
                <a:latin typeface="Segoe UI"/>
              </a:rPr>
              <a:t>Every chunk knows</a:t>
            </a:r>
          </a:p>
        </p:txBody>
      </p:sp>
      <p:sp>
        <p:nvSpPr>
          <p:cNvPr id="17" name="Rounded Rectangle 16"/>
          <p:cNvSpPr/>
          <p:nvPr/>
        </p:nvSpPr>
        <p:spPr>
          <a:xfrm>
            <a:off x="768096" y="3611880"/>
            <a:ext cx="1737360" cy="36576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5B6B7B"/>
                </a:solidFill>
                <a:latin typeface="Segoe UI"/>
              </a:rPr>
              <a:t>document</a:t>
            </a:r>
          </a:p>
        </p:txBody>
      </p:sp>
      <p:sp>
        <p:nvSpPr>
          <p:cNvPr id="18" name="Rounded Rectangle 17"/>
          <p:cNvSpPr/>
          <p:nvPr/>
        </p:nvSpPr>
        <p:spPr>
          <a:xfrm>
            <a:off x="2642615" y="3611880"/>
            <a:ext cx="1737360" cy="36576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5B6B7B"/>
                </a:solidFill>
                <a:latin typeface="Segoe UI"/>
              </a:rPr>
              <a:t>page</a:t>
            </a:r>
          </a:p>
        </p:txBody>
      </p:sp>
      <p:sp>
        <p:nvSpPr>
          <p:cNvPr id="19" name="Rounded Rectangle 18"/>
          <p:cNvSpPr/>
          <p:nvPr/>
        </p:nvSpPr>
        <p:spPr>
          <a:xfrm>
            <a:off x="4517136" y="3611880"/>
            <a:ext cx="1737360" cy="365760"/>
          </a:xfrm>
          <a:prstGeom prst="roundRect">
            <a:avLst>
              <a:gd name="adj" fmla="val 50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5B6B7B"/>
                </a:solidFill>
                <a:latin typeface="Segoe UI"/>
              </a:rPr>
              <a:t>hash</a:t>
            </a:r>
          </a:p>
        </p:txBody>
      </p:sp>
      <p:sp>
        <p:nvSpPr>
          <p:cNvPr id="20" name="Rounded Rectangle 19"/>
          <p:cNvSpPr/>
          <p:nvPr/>
        </p:nvSpPr>
        <p:spPr>
          <a:xfrm>
            <a:off x="7406640" y="3063240"/>
            <a:ext cx="4206240" cy="1188720"/>
          </a:xfrm>
          <a:prstGeom prst="roundRect">
            <a:avLst>
              <a:gd name="adj" fmla="val 6000"/>
            </a:avLst>
          </a:prstGeom>
          <a:solidFill>
            <a:srgbClr val="EFECF7"/>
          </a:solidFill>
          <a:ln w="12700">
            <a:solidFill>
              <a:srgbClr val="6B5BA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TextBox 20"/>
          <p:cNvSpPr txBox="1"/>
          <p:nvPr/>
        </p:nvSpPr>
        <p:spPr>
          <a:xfrm>
            <a:off x="7626096" y="3163824"/>
            <a:ext cx="2743200" cy="320040"/>
          </a:xfrm>
          <a:prstGeom prst="rect">
            <a:avLst/>
          </a:prstGeom>
          <a:noFill/>
        </p:spPr>
        <p:txBody>
          <a:bodyPr wrap="square" anchor="t" lIns="73152" rIns="73152" tIns="27432" bIns="27432">
            <a:spAutoFit/>
          </a:bodyPr>
          <a:lstStyle/>
          <a:p>
            <a:pPr algn="l">
              <a:spcBef>
                <a:spcPts val="0"/>
              </a:spcBef>
              <a:spcAft>
                <a:spcPts val="0"/>
              </a:spcAft>
            </a:pPr>
            <a:r>
              <a:rPr sz="1800" b="1" i="0">
                <a:solidFill>
                  <a:srgbClr val="0F2A43"/>
                </a:solidFill>
                <a:latin typeface="Segoe UI"/>
              </a:rPr>
              <a:t>Index fingerprint</a:t>
            </a:r>
          </a:p>
        </p:txBody>
      </p:sp>
      <p:sp>
        <p:nvSpPr>
          <p:cNvPr id="22" name="TextBox 21"/>
          <p:cNvSpPr txBox="1"/>
          <p:nvPr/>
        </p:nvSpPr>
        <p:spPr>
          <a:xfrm>
            <a:off x="7626096" y="3511296"/>
            <a:ext cx="2194560" cy="393192"/>
          </a:xfrm>
          <a:prstGeom prst="rect">
            <a:avLst/>
          </a:prstGeom>
          <a:noFill/>
        </p:spPr>
        <p:txBody>
          <a:bodyPr wrap="square" anchor="t" lIns="73152" rIns="73152" tIns="27432" bIns="27432">
            <a:spAutoFit/>
          </a:bodyPr>
          <a:lstStyle/>
          <a:p>
            <a:pPr algn="l">
              <a:spcBef>
                <a:spcPts val="0"/>
              </a:spcBef>
              <a:spcAft>
                <a:spcPts val="0"/>
              </a:spcAft>
            </a:pPr>
            <a:r>
              <a:rPr sz="2300" b="1" i="0">
                <a:solidFill>
                  <a:srgbClr val="6B5BA8"/>
                </a:solidFill>
                <a:latin typeface="Segoe UI"/>
              </a:rPr>
              <a:t>SHA-256</a:t>
            </a:r>
          </a:p>
        </p:txBody>
      </p:sp>
      <p:sp>
        <p:nvSpPr>
          <p:cNvPr id="23" name="TextBox 22"/>
          <p:cNvSpPr txBox="1"/>
          <p:nvPr/>
        </p:nvSpPr>
        <p:spPr>
          <a:xfrm>
            <a:off x="9555480" y="3584448"/>
            <a:ext cx="1874519" cy="502920"/>
          </a:xfrm>
          <a:prstGeom prst="rect">
            <a:avLst/>
          </a:prstGeom>
          <a:noFill/>
        </p:spPr>
        <p:txBody>
          <a:bodyPr wrap="square" anchor="t" lIns="73152" rIns="73152" tIns="27432" bIns="27432">
            <a:spAutoFit/>
          </a:bodyPr>
          <a:lstStyle/>
          <a:p>
            <a:pPr algn="l">
              <a:spcBef>
                <a:spcPts val="0"/>
              </a:spcBef>
              <a:spcAft>
                <a:spcPts val="0"/>
              </a:spcAft>
            </a:pPr>
            <a:r>
              <a:rPr sz="1400" b="0" i="0">
                <a:solidFill>
                  <a:srgbClr val="5B6B7B"/>
                </a:solidFill>
                <a:latin typeface="Segoe UI"/>
              </a:rPr>
              <a:t>config + document hashes</a:t>
            </a:r>
          </a:p>
        </p:txBody>
      </p:sp>
      <p:sp>
        <p:nvSpPr>
          <p:cNvPr id="24" name="Rounded Rectangle 23"/>
          <p:cNvSpPr/>
          <p:nvPr/>
        </p:nvSpPr>
        <p:spPr>
          <a:xfrm>
            <a:off x="548640" y="4526280"/>
            <a:ext cx="6583680" cy="1325880"/>
          </a:xfrm>
          <a:prstGeom prst="roundRect">
            <a:avLst>
              <a:gd name="adj" fmla="val 6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768096" y="4645152"/>
            <a:ext cx="4754880" cy="274320"/>
          </a:xfrm>
          <a:prstGeom prst="rect">
            <a:avLst/>
          </a:prstGeom>
          <a:noFill/>
        </p:spPr>
        <p:txBody>
          <a:bodyPr wrap="square" anchor="t" lIns="73152" rIns="73152" tIns="27432" bIns="27432">
            <a:spAutoFit/>
          </a:bodyPr>
          <a:lstStyle/>
          <a:p>
            <a:pPr algn="l">
              <a:spcBef>
                <a:spcPts val="0"/>
              </a:spcBef>
              <a:spcAft>
                <a:spcPts val="0"/>
              </a:spcAft>
            </a:pPr>
            <a:r>
              <a:rPr sz="1400" b="1" i="0">
                <a:solidFill>
                  <a:srgbClr val="0E8C82"/>
                </a:solidFill>
                <a:latin typeface="Segoe UI"/>
              </a:rPr>
              <a:t>EXACT SYNTHETIC PASSAGE  ·  PAGE 2</a:t>
            </a:r>
          </a:p>
        </p:txBody>
      </p:sp>
      <p:sp>
        <p:nvSpPr>
          <p:cNvPr id="26" name="TextBox 25"/>
          <p:cNvSpPr txBox="1"/>
          <p:nvPr/>
        </p:nvSpPr>
        <p:spPr>
          <a:xfrm>
            <a:off x="768096" y="4919472"/>
            <a:ext cx="6126480" cy="411480"/>
          </a:xfrm>
          <a:prstGeom prst="rect">
            <a:avLst/>
          </a:prstGeom>
          <a:noFill/>
        </p:spPr>
        <p:txBody>
          <a:bodyPr wrap="square" anchor="t" lIns="73152" rIns="73152" tIns="27432" bIns="27432">
            <a:spAutoFit/>
          </a:bodyPr>
          <a:lstStyle/>
          <a:p>
            <a:pPr algn="l">
              <a:spcBef>
                <a:spcPts val="0"/>
              </a:spcBef>
              <a:spcAft>
                <a:spcPts val="0"/>
              </a:spcAft>
            </a:pPr>
            <a:r>
              <a:rPr sz="2200" b="0" i="1">
                <a:solidFill>
                  <a:srgbClr val="0F2A43"/>
                </a:solidFill>
                <a:latin typeface="Segoe UI"/>
              </a:rPr>
              <a:t>“Do not infer an interval.”</a:t>
            </a:r>
          </a:p>
        </p:txBody>
      </p:sp>
      <p:sp>
        <p:nvSpPr>
          <p:cNvPr id="27" name="TextBox 26"/>
          <p:cNvSpPr txBox="1"/>
          <p:nvPr/>
        </p:nvSpPr>
        <p:spPr>
          <a:xfrm>
            <a:off x="768096" y="5440680"/>
            <a:ext cx="5943600" cy="274320"/>
          </a:xfrm>
          <a:prstGeom prst="rect">
            <a:avLst/>
          </a:prstGeom>
          <a:noFill/>
        </p:spPr>
        <p:txBody>
          <a:bodyPr wrap="square" anchor="t" lIns="73152" rIns="73152" tIns="27432" bIns="27432">
            <a:spAutoFit/>
          </a:bodyPr>
          <a:lstStyle/>
          <a:p>
            <a:pPr algn="l">
              <a:spcBef>
                <a:spcPts val="0"/>
              </a:spcBef>
              <a:spcAft>
                <a:spcPts val="0"/>
              </a:spcAft>
            </a:pPr>
            <a:r>
              <a:rPr sz="1450" b="0" i="0">
                <a:solidFill>
                  <a:srgbClr val="5B6B7B"/>
                </a:solidFill>
                <a:latin typeface="Segoe UI"/>
              </a:rPr>
              <a:t>Missing reference-range review</a:t>
            </a:r>
          </a:p>
        </p:txBody>
      </p:sp>
      <p:sp>
        <p:nvSpPr>
          <p:cNvPr id="28" name="Rounded Rectangle 27"/>
          <p:cNvSpPr/>
          <p:nvPr/>
        </p:nvSpPr>
        <p:spPr>
          <a:xfrm>
            <a:off x="7406640" y="4526280"/>
            <a:ext cx="4206240" cy="1325880"/>
          </a:xfrm>
          <a:prstGeom prst="roundRect">
            <a:avLst>
              <a:gd name="adj" fmla="val 8000"/>
            </a:avLst>
          </a:prstGeom>
          <a:solidFill>
            <a:srgbClr val="FDF2D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300"/>
              </a:spcAft>
            </a:pPr>
            <a:r>
              <a:rPr sz="1800" b="1" i="0">
                <a:solidFill>
                  <a:srgbClr val="0F2A43"/>
                </a:solidFill>
                <a:latin typeface="Segoe UI"/>
              </a:rPr>
              <a:t>Similarity ranks relevance.</a:t>
            </a:r>
          </a:p>
          <a:p>
            <a:pPr algn="ctr">
              <a:spcBef>
                <a:spcPts val="0"/>
              </a:spcBef>
              <a:spcAft>
                <a:spcPts val="0"/>
              </a:spcAft>
            </a:pPr>
            <a:r>
              <a:rPr sz="1600" b="0" i="0">
                <a:solidFill>
                  <a:srgbClr val="5B6B7B"/>
                </a:solidFill>
                <a:latin typeface="Segoe UI"/>
              </a:rPr>
              <a:t>It is not confidence.</a:t>
            </a:r>
          </a:p>
        </p:txBody>
      </p:sp>
      <p:sp>
        <p:nvSpPr>
          <p:cNvPr id="29" name="TextBox 28"/>
          <p:cNvSpPr txBox="1"/>
          <p:nvPr/>
        </p:nvSpPr>
        <p:spPr>
          <a:xfrm>
            <a:off x="548640" y="6053328"/>
            <a:ext cx="11064240" cy="274320"/>
          </a:xfrm>
          <a:prstGeom prst="rect">
            <a:avLst/>
          </a:prstGeom>
          <a:noFill/>
        </p:spPr>
        <p:txBody>
          <a:bodyPr wrap="square" anchor="t" lIns="73152" rIns="73152" tIns="27432" bIns="27432">
            <a:spAutoFit/>
          </a:bodyPr>
          <a:lstStyle/>
          <a:p>
            <a:pPr algn="ctr">
              <a:spcBef>
                <a:spcPts val="0"/>
              </a:spcBef>
              <a:spcAft>
                <a:spcPts val="0"/>
              </a:spcAft>
            </a:pPr>
            <a:r>
              <a:rPr sz="1450" b="0" i="1">
                <a:solidFill>
                  <a:srgbClr val="5B6B7B"/>
                </a:solidFill>
                <a:latin typeface="Segoe UI"/>
              </a:rPr>
              <a:t>Local embeddings  ·  persistent Chroma  ·  no Gemini call in retrieval</a:t>
            </a:r>
          </a:p>
        </p:txBody>
      </p:sp>
      <p:sp>
        <p:nvSpPr>
          <p:cNvPr id="30" name="TextBox 29"/>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31" name="TextBox 30"/>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Summary</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Gemini selects IDs; deterministic code writes the facts.</a:t>
            </a:r>
          </a:p>
        </p:txBody>
      </p:sp>
      <p:sp>
        <p:nvSpPr>
          <p:cNvPr id="6" name="Rounded Rectangle 5"/>
          <p:cNvSpPr/>
          <p:nvPr/>
        </p:nvSpPr>
        <p:spPr>
          <a:xfrm>
            <a:off x="548640" y="1691640"/>
            <a:ext cx="3291840" cy="2926080"/>
          </a:xfrm>
          <a:prstGeom prst="roundRect">
            <a:avLst>
              <a:gd name="adj" fmla="val 6000"/>
            </a:avLst>
          </a:prstGeom>
          <a:solidFill>
            <a:srgbClr val="FDF2D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786384" y="1828800"/>
            <a:ext cx="274320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Gemini</a:t>
            </a:r>
          </a:p>
        </p:txBody>
      </p:sp>
      <p:sp>
        <p:nvSpPr>
          <p:cNvPr id="8" name="TextBox 7"/>
          <p:cNvSpPr txBox="1"/>
          <p:nvPr/>
        </p:nvSpPr>
        <p:spPr>
          <a:xfrm>
            <a:off x="786384" y="2176272"/>
            <a:ext cx="2743200" cy="274320"/>
          </a:xfrm>
          <a:prstGeom prst="rect">
            <a:avLst/>
          </a:prstGeom>
          <a:noFill/>
        </p:spPr>
        <p:txBody>
          <a:bodyPr wrap="square" anchor="t" lIns="73152" rIns="73152" tIns="27432" bIns="27432">
            <a:spAutoFit/>
          </a:bodyPr>
          <a:lstStyle/>
          <a:p>
            <a:pPr algn="l">
              <a:spcBef>
                <a:spcPts val="0"/>
              </a:spcBef>
              <a:spcAft>
                <a:spcPts val="0"/>
              </a:spcAft>
            </a:pPr>
            <a:r>
              <a:rPr sz="1500" b="0" i="0">
                <a:solidFill>
                  <a:srgbClr val="5B6B7B"/>
                </a:solidFill>
                <a:latin typeface="Segoe UI"/>
              </a:rPr>
              <a:t>bounded ID selection</a:t>
            </a:r>
          </a:p>
        </p:txBody>
      </p:sp>
      <p:sp>
        <p:nvSpPr>
          <p:cNvPr id="9" name="Rounded Rectangle 8"/>
          <p:cNvSpPr/>
          <p:nvPr/>
        </p:nvSpPr>
        <p:spPr>
          <a:xfrm>
            <a:off x="786384" y="2578608"/>
            <a:ext cx="2788920" cy="310896"/>
          </a:xfrm>
          <a:prstGeom prst="roundRect">
            <a:avLst>
              <a:gd name="adj" fmla="val 50000"/>
            </a:avLst>
          </a:prstGeom>
          <a:solidFill>
            <a:srgbClr val="FFFFF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50" b="0" i="0">
                <a:solidFill>
                  <a:srgbClr val="0F2A43"/>
                </a:solidFill>
                <a:latin typeface="Segoe UI"/>
              </a:rPr>
              <a:t>overview</a:t>
            </a:r>
          </a:p>
        </p:txBody>
      </p:sp>
      <p:sp>
        <p:nvSpPr>
          <p:cNvPr id="10" name="Rounded Rectangle 9"/>
          <p:cNvSpPr/>
          <p:nvPr/>
        </p:nvSpPr>
        <p:spPr>
          <a:xfrm>
            <a:off x="786384" y="2944368"/>
            <a:ext cx="2788920" cy="310896"/>
          </a:xfrm>
          <a:prstGeom prst="roundRect">
            <a:avLst>
              <a:gd name="adj" fmla="val 50000"/>
            </a:avLst>
          </a:prstGeom>
          <a:solidFill>
            <a:srgbClr val="FFFFF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50" b="0" i="0">
                <a:solidFill>
                  <a:srgbClr val="0F2A43"/>
                </a:solidFill>
                <a:latin typeface="Segoe UI"/>
              </a:rPr>
              <a:t>important</a:t>
            </a:r>
          </a:p>
        </p:txBody>
      </p:sp>
      <p:sp>
        <p:nvSpPr>
          <p:cNvPr id="11" name="Rounded Rectangle 10"/>
          <p:cNvSpPr/>
          <p:nvPr/>
        </p:nvSpPr>
        <p:spPr>
          <a:xfrm>
            <a:off x="786384" y="3310127"/>
            <a:ext cx="2788920" cy="310896"/>
          </a:xfrm>
          <a:prstGeom prst="roundRect">
            <a:avLst>
              <a:gd name="adj" fmla="val 50000"/>
            </a:avLst>
          </a:prstGeom>
          <a:solidFill>
            <a:srgbClr val="FFFFF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50" b="0" i="0">
                <a:solidFill>
                  <a:srgbClr val="0F2A43"/>
                </a:solidFill>
                <a:latin typeface="Segoe UI"/>
              </a:rPr>
              <a:t>repeats</a:t>
            </a:r>
          </a:p>
        </p:txBody>
      </p:sp>
      <p:sp>
        <p:nvSpPr>
          <p:cNvPr id="12" name="Rounded Rectangle 11"/>
          <p:cNvSpPr/>
          <p:nvPr/>
        </p:nvSpPr>
        <p:spPr>
          <a:xfrm>
            <a:off x="786384" y="3675887"/>
            <a:ext cx="2788920" cy="310896"/>
          </a:xfrm>
          <a:prstGeom prst="roundRect">
            <a:avLst>
              <a:gd name="adj" fmla="val 50000"/>
            </a:avLst>
          </a:prstGeom>
          <a:solidFill>
            <a:srgbClr val="FFFFF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50" b="0" i="0">
                <a:solidFill>
                  <a:srgbClr val="0F2A43"/>
                </a:solidFill>
                <a:latin typeface="Segoe UI"/>
              </a:rPr>
              <a:t>narrative</a:t>
            </a:r>
          </a:p>
        </p:txBody>
      </p:sp>
      <p:sp>
        <p:nvSpPr>
          <p:cNvPr id="13" name="Rounded Rectangle 12"/>
          <p:cNvSpPr/>
          <p:nvPr/>
        </p:nvSpPr>
        <p:spPr>
          <a:xfrm>
            <a:off x="786384" y="4041648"/>
            <a:ext cx="2788920" cy="310896"/>
          </a:xfrm>
          <a:prstGeom prst="roundRect">
            <a:avLst>
              <a:gd name="adj" fmla="val 50000"/>
            </a:avLst>
          </a:prstGeom>
          <a:solidFill>
            <a:srgbClr val="FFFFF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50" b="0" i="0">
                <a:solidFill>
                  <a:srgbClr val="0F2A43"/>
                </a:solidFill>
                <a:latin typeface="Segoe UI"/>
              </a:rPr>
              <a:t>uncertainty</a:t>
            </a:r>
          </a:p>
        </p:txBody>
      </p:sp>
      <p:cxnSp>
        <p:nvCxnSpPr>
          <p:cNvPr id="14" name="Connector 13"/>
          <p:cNvCxnSpPr/>
          <p:nvPr/>
        </p:nvCxnSpPr>
        <p:spPr>
          <a:xfrm>
            <a:off x="3840480" y="3154680"/>
            <a:ext cx="32004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06240" y="1691640"/>
            <a:ext cx="3017520" cy="2926080"/>
          </a:xfrm>
          <a:prstGeom prst="roundRect">
            <a:avLst>
              <a:gd name="adj" fmla="val 6000"/>
            </a:avLst>
          </a:prstGeom>
          <a:solidFill>
            <a:srgbClr val="0F2A43"/>
          </a:solidFill>
          <a:ln w="12700">
            <a:solidFill>
              <a:srgbClr val="0F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4443984" y="1828800"/>
            <a:ext cx="265176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FFFFFF"/>
                </a:solidFill>
                <a:latin typeface="Segoe UI"/>
              </a:rPr>
              <a:t>Assembler</a:t>
            </a:r>
          </a:p>
        </p:txBody>
      </p:sp>
      <p:sp>
        <p:nvSpPr>
          <p:cNvPr id="17" name="TextBox 16"/>
          <p:cNvSpPr txBox="1"/>
          <p:nvPr/>
        </p:nvSpPr>
        <p:spPr>
          <a:xfrm>
            <a:off x="4443984" y="2176272"/>
            <a:ext cx="2651760" cy="274320"/>
          </a:xfrm>
          <a:prstGeom prst="rect">
            <a:avLst/>
          </a:prstGeom>
          <a:noFill/>
        </p:spPr>
        <p:txBody>
          <a:bodyPr wrap="square" anchor="t" lIns="73152" rIns="73152" tIns="27432" bIns="27432">
            <a:spAutoFit/>
          </a:bodyPr>
          <a:lstStyle/>
          <a:p>
            <a:pPr algn="l">
              <a:spcBef>
                <a:spcPts val="0"/>
              </a:spcBef>
              <a:spcAft>
                <a:spcPts val="0"/>
              </a:spcAft>
            </a:pPr>
            <a:r>
              <a:rPr sz="1500" b="0" i="0">
                <a:solidFill>
                  <a:srgbClr val="12B3A6"/>
                </a:solidFill>
                <a:latin typeface="Segoe UI"/>
              </a:rPr>
              <a:t>deterministic</a:t>
            </a:r>
          </a:p>
        </p:txBody>
      </p:sp>
      <p:sp>
        <p:nvSpPr>
          <p:cNvPr id="18" name="TextBox 17"/>
          <p:cNvSpPr txBox="1"/>
          <p:nvPr/>
        </p:nvSpPr>
        <p:spPr>
          <a:xfrm>
            <a:off x="4443984" y="2651760"/>
            <a:ext cx="2606040" cy="292608"/>
          </a:xfrm>
          <a:prstGeom prst="rect">
            <a:avLst/>
          </a:prstGeom>
          <a:noFill/>
        </p:spPr>
        <p:txBody>
          <a:bodyPr wrap="square" anchor="t" lIns="73152" rIns="73152" tIns="27432" bIns="27432">
            <a:spAutoFit/>
          </a:bodyPr>
          <a:lstStyle/>
          <a:p>
            <a:pPr algn="l">
              <a:spcBef>
                <a:spcPts val="0"/>
              </a:spcBef>
              <a:spcAft>
                <a:spcPts val="0"/>
              </a:spcAft>
            </a:pPr>
            <a:r>
              <a:rPr sz="1600" b="0" i="0">
                <a:solidFill>
                  <a:srgbClr val="C9D6DF"/>
                </a:solidFill>
                <a:latin typeface="Segoe UI"/>
              </a:rPr>
              <a:t>•  values · units · ranges</a:t>
            </a:r>
          </a:p>
        </p:txBody>
      </p:sp>
      <p:sp>
        <p:nvSpPr>
          <p:cNvPr id="19" name="TextBox 18"/>
          <p:cNvSpPr txBox="1"/>
          <p:nvPr/>
        </p:nvSpPr>
        <p:spPr>
          <a:xfrm>
            <a:off x="4443984" y="3090672"/>
            <a:ext cx="2606040" cy="292608"/>
          </a:xfrm>
          <a:prstGeom prst="rect">
            <a:avLst/>
          </a:prstGeom>
          <a:noFill/>
        </p:spPr>
        <p:txBody>
          <a:bodyPr wrap="square" anchor="t" lIns="73152" rIns="73152" tIns="27432" bIns="27432">
            <a:spAutoFit/>
          </a:bodyPr>
          <a:lstStyle/>
          <a:p>
            <a:pPr algn="l">
              <a:spcBef>
                <a:spcPts val="0"/>
              </a:spcBef>
              <a:spcAft>
                <a:spcPts val="0"/>
              </a:spcAft>
            </a:pPr>
            <a:r>
              <a:rPr sz="1600" b="0" i="0">
                <a:solidFill>
                  <a:srgbClr val="C9D6DF"/>
                </a:solidFill>
                <a:latin typeface="Segoe UI"/>
              </a:rPr>
              <a:t>•  repeat groups</a:t>
            </a:r>
          </a:p>
        </p:txBody>
      </p:sp>
      <p:sp>
        <p:nvSpPr>
          <p:cNvPr id="20" name="TextBox 19"/>
          <p:cNvSpPr txBox="1"/>
          <p:nvPr/>
        </p:nvSpPr>
        <p:spPr>
          <a:xfrm>
            <a:off x="4443984" y="3529584"/>
            <a:ext cx="2606040" cy="292608"/>
          </a:xfrm>
          <a:prstGeom prst="rect">
            <a:avLst/>
          </a:prstGeom>
          <a:noFill/>
        </p:spPr>
        <p:txBody>
          <a:bodyPr wrap="square" anchor="t" lIns="73152" rIns="73152" tIns="27432" bIns="27432">
            <a:spAutoFit/>
          </a:bodyPr>
          <a:lstStyle/>
          <a:p>
            <a:pPr algn="l">
              <a:spcBef>
                <a:spcPts val="0"/>
              </a:spcBef>
              <a:spcAft>
                <a:spcPts val="0"/>
              </a:spcAft>
            </a:pPr>
            <a:r>
              <a:rPr sz="1600" b="0" i="0">
                <a:solidFill>
                  <a:srgbClr val="C9D6DF"/>
                </a:solidFill>
                <a:latin typeface="Segoe UI"/>
              </a:rPr>
              <a:t>•  pages · excerpts</a:t>
            </a:r>
          </a:p>
        </p:txBody>
      </p:sp>
      <p:sp>
        <p:nvSpPr>
          <p:cNvPr id="21" name="TextBox 20"/>
          <p:cNvSpPr txBox="1"/>
          <p:nvPr/>
        </p:nvSpPr>
        <p:spPr>
          <a:xfrm>
            <a:off x="4443984" y="3968496"/>
            <a:ext cx="2606040" cy="292608"/>
          </a:xfrm>
          <a:prstGeom prst="rect">
            <a:avLst/>
          </a:prstGeom>
          <a:noFill/>
        </p:spPr>
        <p:txBody>
          <a:bodyPr wrap="square" anchor="t" lIns="73152" rIns="73152" tIns="27432" bIns="27432">
            <a:spAutoFit/>
          </a:bodyPr>
          <a:lstStyle/>
          <a:p>
            <a:pPr algn="l">
              <a:spcBef>
                <a:spcPts val="0"/>
              </a:spcBef>
              <a:spcAft>
                <a:spcPts val="0"/>
              </a:spcAft>
            </a:pPr>
            <a:r>
              <a:rPr sz="1600" b="0" i="0">
                <a:solidFill>
                  <a:srgbClr val="C9D6DF"/>
                </a:solidFill>
                <a:latin typeface="Segoe UI"/>
              </a:rPr>
              <a:t>•  uncertainties</a:t>
            </a:r>
          </a:p>
        </p:txBody>
      </p:sp>
      <p:cxnSp>
        <p:nvCxnSpPr>
          <p:cNvPr id="22" name="Connector 21"/>
          <p:cNvCxnSpPr/>
          <p:nvPr/>
        </p:nvCxnSpPr>
        <p:spPr>
          <a:xfrm>
            <a:off x="7223760" y="3154680"/>
            <a:ext cx="32004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589520" y="1691640"/>
            <a:ext cx="4023360" cy="2926080"/>
          </a:xfrm>
          <a:prstGeom prst="roundRect">
            <a:avLst>
              <a:gd name="adj" fmla="val 6000"/>
            </a:avLst>
          </a:prstGeom>
          <a:solidFill>
            <a:srgbClr val="FFFFFF"/>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7827264" y="1828800"/>
            <a:ext cx="347472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Summary</a:t>
            </a:r>
          </a:p>
        </p:txBody>
      </p:sp>
      <p:sp>
        <p:nvSpPr>
          <p:cNvPr id="25" name="Rounded Rectangle 24"/>
          <p:cNvSpPr/>
          <p:nvPr/>
        </p:nvSpPr>
        <p:spPr>
          <a:xfrm>
            <a:off x="7827264" y="2395728"/>
            <a:ext cx="3520440" cy="329184"/>
          </a:xfrm>
          <a:prstGeom prst="roundRect">
            <a:avLst>
              <a:gd name="adj" fmla="val 50000"/>
            </a:avLst>
          </a:prstGeom>
          <a:solidFill>
            <a:srgbClr val="E4F7F4"/>
          </a:solidFill>
          <a:ln w="12700">
            <a:solidFill>
              <a:srgbClr val="E4F7F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7973568" y="2432304"/>
            <a:ext cx="3246120" cy="274320"/>
          </a:xfrm>
          <a:prstGeom prst="rect">
            <a:avLst/>
          </a:prstGeom>
          <a:noFill/>
        </p:spPr>
        <p:txBody>
          <a:bodyPr wrap="square" anchor="t" lIns="73152" rIns="73152" tIns="27432" bIns="27432">
            <a:spAutoFit/>
          </a:bodyPr>
          <a:lstStyle/>
          <a:p>
            <a:pPr algn="l">
              <a:spcBef>
                <a:spcPts val="0"/>
              </a:spcBef>
              <a:spcAft>
                <a:spcPts val="0"/>
              </a:spcAft>
            </a:pPr>
            <a:r>
              <a:rPr sz="1450" b="1" i="0">
                <a:solidFill>
                  <a:srgbClr val="0F2A43"/>
                </a:solidFill>
                <a:latin typeface="Segoe UI"/>
              </a:rPr>
              <a:t>Overview</a:t>
            </a:r>
          </a:p>
        </p:txBody>
      </p:sp>
      <p:sp>
        <p:nvSpPr>
          <p:cNvPr id="27" name="Rounded Rectangle 26"/>
          <p:cNvSpPr/>
          <p:nvPr/>
        </p:nvSpPr>
        <p:spPr>
          <a:xfrm>
            <a:off x="7827264" y="2798064"/>
            <a:ext cx="3520440" cy="329184"/>
          </a:xfrm>
          <a:prstGeom prst="roundRect">
            <a:avLst>
              <a:gd name="adj" fmla="val 50000"/>
            </a:avLst>
          </a:prstGeom>
          <a:solidFill>
            <a:srgbClr val="E4F7F4"/>
          </a:solidFill>
          <a:ln w="12700">
            <a:solidFill>
              <a:srgbClr val="E4F7F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8" name="TextBox 27"/>
          <p:cNvSpPr txBox="1"/>
          <p:nvPr/>
        </p:nvSpPr>
        <p:spPr>
          <a:xfrm>
            <a:off x="7973568" y="2834640"/>
            <a:ext cx="3246120" cy="274320"/>
          </a:xfrm>
          <a:prstGeom prst="rect">
            <a:avLst/>
          </a:prstGeom>
          <a:noFill/>
        </p:spPr>
        <p:txBody>
          <a:bodyPr wrap="square" anchor="t" lIns="73152" rIns="73152" tIns="27432" bIns="27432">
            <a:spAutoFit/>
          </a:bodyPr>
          <a:lstStyle/>
          <a:p>
            <a:pPr algn="l">
              <a:spcBef>
                <a:spcPts val="0"/>
              </a:spcBef>
              <a:spcAft>
                <a:spcPts val="0"/>
              </a:spcAft>
            </a:pPr>
            <a:r>
              <a:rPr sz="1450" b="1" i="0">
                <a:solidFill>
                  <a:srgbClr val="0F2A43"/>
                </a:solidFill>
                <a:latin typeface="Segoe UI"/>
              </a:rPr>
              <a:t>Important findings</a:t>
            </a:r>
          </a:p>
        </p:txBody>
      </p:sp>
      <p:sp>
        <p:nvSpPr>
          <p:cNvPr id="29" name="Rounded Rectangle 28"/>
          <p:cNvSpPr/>
          <p:nvPr/>
        </p:nvSpPr>
        <p:spPr>
          <a:xfrm>
            <a:off x="7827264" y="3200400"/>
            <a:ext cx="3520440" cy="329184"/>
          </a:xfrm>
          <a:prstGeom prst="roundRect">
            <a:avLst>
              <a:gd name="adj" fmla="val 50000"/>
            </a:avLst>
          </a:prstGeom>
          <a:solidFill>
            <a:srgbClr val="E4F7F4"/>
          </a:solidFill>
          <a:ln w="12700">
            <a:solidFill>
              <a:srgbClr val="E4F7F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0" name="TextBox 29"/>
          <p:cNvSpPr txBox="1"/>
          <p:nvPr/>
        </p:nvSpPr>
        <p:spPr>
          <a:xfrm>
            <a:off x="7973568" y="3236976"/>
            <a:ext cx="3246120" cy="274320"/>
          </a:xfrm>
          <a:prstGeom prst="rect">
            <a:avLst/>
          </a:prstGeom>
          <a:noFill/>
        </p:spPr>
        <p:txBody>
          <a:bodyPr wrap="square" anchor="t" lIns="73152" rIns="73152" tIns="27432" bIns="27432">
            <a:spAutoFit/>
          </a:bodyPr>
          <a:lstStyle/>
          <a:p>
            <a:pPr algn="l">
              <a:spcBef>
                <a:spcPts val="0"/>
              </a:spcBef>
              <a:spcAft>
                <a:spcPts val="0"/>
              </a:spcAft>
            </a:pPr>
            <a:r>
              <a:rPr sz="1450" b="1" i="0">
                <a:solidFill>
                  <a:srgbClr val="0F2A43"/>
                </a:solidFill>
                <a:latin typeface="Segoe UI"/>
              </a:rPr>
              <a:t>Repeat measurements</a:t>
            </a:r>
          </a:p>
        </p:txBody>
      </p:sp>
      <p:sp>
        <p:nvSpPr>
          <p:cNvPr id="31" name="Rounded Rectangle 30"/>
          <p:cNvSpPr/>
          <p:nvPr/>
        </p:nvSpPr>
        <p:spPr>
          <a:xfrm>
            <a:off x="7827264" y="3602736"/>
            <a:ext cx="3520440" cy="329184"/>
          </a:xfrm>
          <a:prstGeom prst="roundRect">
            <a:avLst>
              <a:gd name="adj" fmla="val 50000"/>
            </a:avLst>
          </a:prstGeom>
          <a:solidFill>
            <a:srgbClr val="E4F7F4"/>
          </a:solidFill>
          <a:ln w="12700">
            <a:solidFill>
              <a:srgbClr val="E4F7F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2" name="TextBox 31"/>
          <p:cNvSpPr txBox="1"/>
          <p:nvPr/>
        </p:nvSpPr>
        <p:spPr>
          <a:xfrm>
            <a:off x="7973568" y="3639312"/>
            <a:ext cx="3246120" cy="274320"/>
          </a:xfrm>
          <a:prstGeom prst="rect">
            <a:avLst/>
          </a:prstGeom>
          <a:noFill/>
        </p:spPr>
        <p:txBody>
          <a:bodyPr wrap="square" anchor="t" lIns="73152" rIns="73152" tIns="27432" bIns="27432">
            <a:spAutoFit/>
          </a:bodyPr>
          <a:lstStyle/>
          <a:p>
            <a:pPr algn="l">
              <a:spcBef>
                <a:spcPts val="0"/>
              </a:spcBef>
              <a:spcAft>
                <a:spcPts val="0"/>
              </a:spcAft>
            </a:pPr>
            <a:r>
              <a:rPr sz="1450" b="1" i="0">
                <a:solidFill>
                  <a:srgbClr val="0F2A43"/>
                </a:solidFill>
                <a:latin typeface="Segoe UI"/>
              </a:rPr>
              <a:t>Narrative context</a:t>
            </a:r>
          </a:p>
        </p:txBody>
      </p:sp>
      <p:sp>
        <p:nvSpPr>
          <p:cNvPr id="33" name="Rounded Rectangle 32"/>
          <p:cNvSpPr/>
          <p:nvPr/>
        </p:nvSpPr>
        <p:spPr>
          <a:xfrm>
            <a:off x="7827264" y="4005072"/>
            <a:ext cx="3520440" cy="329184"/>
          </a:xfrm>
          <a:prstGeom prst="roundRect">
            <a:avLst>
              <a:gd name="adj" fmla="val 50000"/>
            </a:avLst>
          </a:prstGeom>
          <a:solidFill>
            <a:srgbClr val="E4F7F4"/>
          </a:solidFill>
          <a:ln w="12700">
            <a:solidFill>
              <a:srgbClr val="E4F7F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4" name="TextBox 33"/>
          <p:cNvSpPr txBox="1"/>
          <p:nvPr/>
        </p:nvSpPr>
        <p:spPr>
          <a:xfrm>
            <a:off x="7973568" y="4041648"/>
            <a:ext cx="3246120" cy="274320"/>
          </a:xfrm>
          <a:prstGeom prst="rect">
            <a:avLst/>
          </a:prstGeom>
          <a:noFill/>
        </p:spPr>
        <p:txBody>
          <a:bodyPr wrap="square" anchor="t" lIns="73152" rIns="73152" tIns="27432" bIns="27432">
            <a:spAutoFit/>
          </a:bodyPr>
          <a:lstStyle/>
          <a:p>
            <a:pPr algn="l">
              <a:spcBef>
                <a:spcPts val="0"/>
              </a:spcBef>
              <a:spcAft>
                <a:spcPts val="0"/>
              </a:spcAft>
            </a:pPr>
            <a:r>
              <a:rPr sz="1450" b="1" i="0">
                <a:solidFill>
                  <a:srgbClr val="0F2A43"/>
                </a:solidFill>
                <a:latin typeface="Segoe UI"/>
              </a:rPr>
              <a:t>Uncertainties</a:t>
            </a:r>
          </a:p>
        </p:txBody>
      </p:sp>
      <p:sp>
        <p:nvSpPr>
          <p:cNvPr id="35" name="Rounded Rectangle 34"/>
          <p:cNvSpPr/>
          <p:nvPr/>
        </p:nvSpPr>
        <p:spPr>
          <a:xfrm>
            <a:off x="548640" y="4846320"/>
            <a:ext cx="5669280" cy="731520"/>
          </a:xfrm>
          <a:prstGeom prst="roundRect">
            <a:avLst>
              <a:gd name="adj" fmla="val 8000"/>
            </a:avLst>
          </a:prstGeom>
          <a:solidFill>
            <a:srgbClr val="F5F7FA"/>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2400" b="1" i="0">
                <a:solidFill>
                  <a:srgbClr val="0F2A43"/>
                </a:solidFill>
                <a:latin typeface="Segoe UI"/>
              </a:rPr>
              <a:t>IDs in.  Facts out.</a:t>
            </a:r>
          </a:p>
        </p:txBody>
      </p:sp>
      <p:sp>
        <p:nvSpPr>
          <p:cNvPr id="36" name="TextBox 35"/>
          <p:cNvSpPr txBox="1"/>
          <p:nvPr/>
        </p:nvSpPr>
        <p:spPr>
          <a:xfrm>
            <a:off x="6400800" y="4928616"/>
            <a:ext cx="5212080" cy="548640"/>
          </a:xfrm>
          <a:prstGeom prst="rect">
            <a:avLst/>
          </a:prstGeom>
          <a:noFill/>
        </p:spPr>
        <p:txBody>
          <a:bodyPr wrap="square" anchor="t" lIns="73152" rIns="73152" tIns="27432" bIns="27432">
            <a:spAutoFit/>
          </a:bodyPr>
          <a:lstStyle/>
          <a:p>
            <a:pPr algn="l">
              <a:spcBef>
                <a:spcPts val="0"/>
              </a:spcBef>
              <a:spcAft>
                <a:spcPts val="0"/>
              </a:spcAft>
            </a:pPr>
            <a:r>
              <a:rPr sz="1600" b="0" i="0">
                <a:solidFill>
                  <a:srgbClr val="5B6B7B"/>
                </a:solidFill>
                <a:latin typeface="Segoe UI"/>
              </a:rPr>
              <a:t>The model never writes the numeric fact.</a:t>
            </a:r>
          </a:p>
        </p:txBody>
      </p:sp>
      <p:sp>
        <p:nvSpPr>
          <p:cNvPr id="37" name="TextBox 36"/>
          <p:cNvSpPr txBox="1"/>
          <p:nvPr/>
        </p:nvSpPr>
        <p:spPr>
          <a:xfrm>
            <a:off x="548640" y="5852160"/>
            <a:ext cx="11064240" cy="292608"/>
          </a:xfrm>
          <a:prstGeom prst="rect">
            <a:avLst/>
          </a:prstGeom>
          <a:noFill/>
        </p:spPr>
        <p:txBody>
          <a:bodyPr wrap="square" anchor="t" lIns="73152" rIns="73152" tIns="27432" bIns="27432">
            <a:spAutoFit/>
          </a:bodyPr>
          <a:lstStyle/>
          <a:p>
            <a:pPr algn="ctr">
              <a:spcBef>
                <a:spcPts val="0"/>
              </a:spcBef>
              <a:spcAft>
                <a:spcPts val="0"/>
              </a:spcAft>
            </a:pPr>
            <a:r>
              <a:rPr sz="1500" b="0" i="1">
                <a:solidFill>
                  <a:srgbClr val="5B6B7B"/>
                </a:solidFill>
                <a:latin typeface="Segoe UI"/>
              </a:rPr>
              <a:t>Repeat groups: matching analyte + unit; no invented chronology.</a:t>
            </a:r>
          </a:p>
        </p:txBody>
      </p:sp>
      <p:sp>
        <p:nvSpPr>
          <p:cNvPr id="38" name="TextBox 37"/>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39" name="TextBox 38"/>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Recommendation + human review</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Every suggestion cites both sides — or declines.</a:t>
            </a:r>
          </a:p>
        </p:txBody>
      </p:sp>
      <p:sp>
        <p:nvSpPr>
          <p:cNvPr id="6" name="Rounded Rectangle 5"/>
          <p:cNvSpPr/>
          <p:nvPr/>
        </p:nvSpPr>
        <p:spPr>
          <a:xfrm>
            <a:off x="548640" y="1645920"/>
            <a:ext cx="2834640" cy="2560320"/>
          </a:xfrm>
          <a:prstGeom prst="roundRect">
            <a:avLst>
              <a:gd name="adj" fmla="val 6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768096" y="1773936"/>
            <a:ext cx="237744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Inputs</a:t>
            </a:r>
          </a:p>
        </p:txBody>
      </p:sp>
      <p:sp>
        <p:nvSpPr>
          <p:cNvPr id="8" name="Rounded Rectangle 7"/>
          <p:cNvSpPr/>
          <p:nvPr/>
        </p:nvSpPr>
        <p:spPr>
          <a:xfrm>
            <a:off x="768096" y="2194560"/>
            <a:ext cx="2377440" cy="43891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0F2A43"/>
                </a:solidFill>
                <a:latin typeface="Segoe UI"/>
              </a:rPr>
              <a:t>patient findings</a:t>
            </a:r>
          </a:p>
        </p:txBody>
      </p:sp>
      <p:sp>
        <p:nvSpPr>
          <p:cNvPr id="9" name="Rounded Rectangle 8"/>
          <p:cNvSpPr/>
          <p:nvPr/>
        </p:nvSpPr>
        <p:spPr>
          <a:xfrm>
            <a:off x="768096" y="2779776"/>
            <a:ext cx="2377440" cy="43891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0F2A43"/>
                </a:solidFill>
                <a:latin typeface="Segoe UI"/>
              </a:rPr>
              <a:t>validated summary</a:t>
            </a:r>
          </a:p>
        </p:txBody>
      </p:sp>
      <p:sp>
        <p:nvSpPr>
          <p:cNvPr id="10" name="Rounded Rectangle 9"/>
          <p:cNvSpPr/>
          <p:nvPr/>
        </p:nvSpPr>
        <p:spPr>
          <a:xfrm>
            <a:off x="768096" y="3364992"/>
            <a:ext cx="2377440" cy="43891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0F2A43"/>
                </a:solidFill>
                <a:latin typeface="Segoe UI"/>
              </a:rPr>
              <a:t>guideline passages</a:t>
            </a:r>
          </a:p>
        </p:txBody>
      </p:sp>
      <p:cxnSp>
        <p:nvCxnSpPr>
          <p:cNvPr id="11" name="Connector 10"/>
          <p:cNvCxnSpPr/>
          <p:nvPr/>
        </p:nvCxnSpPr>
        <p:spPr>
          <a:xfrm>
            <a:off x="3383280" y="2926080"/>
            <a:ext cx="320040" cy="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49039" y="1828800"/>
            <a:ext cx="2560320" cy="2194560"/>
          </a:xfrm>
          <a:prstGeom prst="roundRect">
            <a:avLst>
              <a:gd name="adj" fmla="val 8000"/>
            </a:avLst>
          </a:prstGeom>
          <a:solidFill>
            <a:srgbClr val="0F2A43"/>
          </a:solidFill>
          <a:ln w="12700">
            <a:solidFill>
              <a:srgbClr val="0F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2000" b="1" i="0">
                <a:solidFill>
                  <a:srgbClr val="FFFFFF"/>
                </a:solidFill>
                <a:latin typeface="Segoe UI"/>
              </a:rPr>
              <a:t>Recommendation</a:t>
            </a:r>
          </a:p>
          <a:p>
            <a:pPr algn="ctr">
              <a:spcBef>
                <a:spcPts val="0"/>
              </a:spcBef>
              <a:spcAft>
                <a:spcPts val="600"/>
              </a:spcAft>
            </a:pPr>
            <a:r>
              <a:rPr sz="2000" b="1" i="0">
                <a:solidFill>
                  <a:srgbClr val="FFFFFF"/>
                </a:solidFill>
                <a:latin typeface="Segoe UI"/>
              </a:rPr>
              <a:t>Agent</a:t>
            </a:r>
          </a:p>
          <a:p>
            <a:pPr algn="ctr">
              <a:spcBef>
                <a:spcPts val="0"/>
              </a:spcBef>
              <a:spcAft>
                <a:spcPts val="0"/>
              </a:spcAft>
            </a:pPr>
            <a:r>
              <a:rPr sz="1450" b="0" i="0">
                <a:solidFill>
                  <a:srgbClr val="F2A93B"/>
                </a:solidFill>
                <a:latin typeface="Segoe UI"/>
              </a:rPr>
              <a:t>bounded Gemini call</a:t>
            </a:r>
          </a:p>
        </p:txBody>
      </p:sp>
      <p:cxnSp>
        <p:nvCxnSpPr>
          <p:cNvPr id="13" name="Connector 12"/>
          <p:cNvCxnSpPr/>
          <p:nvPr/>
        </p:nvCxnSpPr>
        <p:spPr>
          <a:xfrm flipV="1">
            <a:off x="6309360" y="2194560"/>
            <a:ext cx="411480" cy="32004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09360" y="3246120"/>
            <a:ext cx="960120" cy="137160"/>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66560" y="1645920"/>
            <a:ext cx="4846320" cy="1143000"/>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2000" b="1" i="0">
                <a:solidFill>
                  <a:srgbClr val="0F2A43"/>
                </a:solidFill>
                <a:latin typeface="Segoe UI"/>
              </a:rPr>
              <a:t>Suggestion</a:t>
            </a:r>
          </a:p>
          <a:p>
            <a:pPr algn="ctr">
              <a:spcBef>
                <a:spcPts val="0"/>
              </a:spcBef>
              <a:spcAft>
                <a:spcPts val="400"/>
              </a:spcAft>
            </a:pPr>
            <a:r>
              <a:rPr sz="1600" b="0" i="0">
                <a:solidFill>
                  <a:srgbClr val="5B6B7B"/>
                </a:solidFill>
                <a:latin typeface="Segoe UI"/>
              </a:rPr>
              <a:t>finding IDs + passage IDs</a:t>
            </a:r>
          </a:p>
          <a:p>
            <a:pPr algn="ctr">
              <a:spcBef>
                <a:spcPts val="0"/>
              </a:spcBef>
              <a:spcAft>
                <a:spcPts val="0"/>
              </a:spcAft>
            </a:pPr>
            <a:r>
              <a:rPr sz="1500" b="1" i="0">
                <a:solidFill>
                  <a:srgbClr val="0E8C82"/>
                </a:solidFill>
                <a:latin typeface="Segoe UI"/>
              </a:rPr>
              <a:t>patient evidence + guideline evidence</a:t>
            </a:r>
          </a:p>
        </p:txBody>
      </p:sp>
      <p:sp>
        <p:nvSpPr>
          <p:cNvPr id="16" name="Rounded Rectangle 15"/>
          <p:cNvSpPr/>
          <p:nvPr/>
        </p:nvSpPr>
        <p:spPr>
          <a:xfrm>
            <a:off x="7315200" y="2880360"/>
            <a:ext cx="3931920" cy="1051560"/>
          </a:xfrm>
          <a:prstGeom prst="roundRect">
            <a:avLst>
              <a:gd name="adj" fmla="val 8000"/>
            </a:avLst>
          </a:prstGeom>
          <a:solidFill>
            <a:srgbClr val="FDF2D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2000" b="1" i="0">
                <a:solidFill>
                  <a:srgbClr val="0F2A43"/>
                </a:solidFill>
                <a:latin typeface="Segoe UI"/>
              </a:rPr>
              <a:t>Abstain</a:t>
            </a:r>
          </a:p>
          <a:p>
            <a:pPr algn="ctr">
              <a:spcBef>
                <a:spcPts val="0"/>
              </a:spcBef>
              <a:spcAft>
                <a:spcPts val="0"/>
              </a:spcAft>
            </a:pPr>
            <a:r>
              <a:rPr sz="1400" b="0" i="0">
                <a:solidFill>
                  <a:srgbClr val="5B6B7B"/>
                </a:solidFill>
                <a:latin typeface="Segoe UI"/>
              </a:rPr>
              <a:t>absent · unrelated · contradictory · insufficient</a:t>
            </a:r>
          </a:p>
        </p:txBody>
      </p:sp>
      <p:cxnSp>
        <p:nvCxnSpPr>
          <p:cNvPr id="17" name="Connector 16"/>
          <p:cNvCxnSpPr/>
          <p:nvPr/>
        </p:nvCxnSpPr>
        <p:spPr>
          <a:xfrm>
            <a:off x="11338560" y="2788920"/>
            <a:ext cx="0" cy="1435608"/>
          </a:xfrm>
          <a:prstGeom prst="line">
            <a:avLst/>
          </a:prstGeom>
          <a:ln w="22860">
            <a:solidFill>
              <a:srgbClr val="0E8C8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4297680"/>
            <a:ext cx="11064240" cy="914400"/>
          </a:xfrm>
          <a:prstGeom prst="roundRect">
            <a:avLst>
              <a:gd name="adj" fmla="val 6000"/>
            </a:avLst>
          </a:prstGeom>
          <a:solidFill>
            <a:srgbClr val="0F2A43"/>
          </a:solidFill>
          <a:ln w="12700">
            <a:solidFill>
              <a:srgbClr val="0F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9" name="TextBox 18"/>
          <p:cNvSpPr txBox="1"/>
          <p:nvPr/>
        </p:nvSpPr>
        <p:spPr>
          <a:xfrm>
            <a:off x="786384" y="4480560"/>
            <a:ext cx="347472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FFFFFF"/>
                </a:solidFill>
                <a:latin typeface="Segoe UI"/>
              </a:rPr>
              <a:t>Human review</a:t>
            </a:r>
          </a:p>
        </p:txBody>
      </p:sp>
      <p:sp>
        <p:nvSpPr>
          <p:cNvPr id="20" name="TextBox 19"/>
          <p:cNvSpPr txBox="1"/>
          <p:nvPr/>
        </p:nvSpPr>
        <p:spPr>
          <a:xfrm>
            <a:off x="4023360" y="4526280"/>
            <a:ext cx="7315200" cy="320040"/>
          </a:xfrm>
          <a:prstGeom prst="rect">
            <a:avLst/>
          </a:prstGeom>
          <a:noFill/>
        </p:spPr>
        <p:txBody>
          <a:bodyPr wrap="square" anchor="t" lIns="73152" rIns="73152" tIns="27432" bIns="27432">
            <a:spAutoFit/>
          </a:bodyPr>
          <a:lstStyle/>
          <a:p>
            <a:pPr algn="r">
              <a:spcBef>
                <a:spcPts val="0"/>
              </a:spcBef>
              <a:spcAft>
                <a:spcPts val="0"/>
              </a:spcAft>
            </a:pPr>
            <a:r>
              <a:rPr sz="1500" b="0" i="0">
                <a:solidFill>
                  <a:srgbClr val="C9D6DF"/>
                </a:solidFill>
                <a:latin typeface="Segoe UI"/>
              </a:rPr>
              <a:t>approve / reject exact draft  ·  edit = new pending version</a:t>
            </a:r>
          </a:p>
        </p:txBody>
      </p:sp>
      <p:sp>
        <p:nvSpPr>
          <p:cNvPr id="21" name="Rounded Rectangle 20"/>
          <p:cNvSpPr/>
          <p:nvPr/>
        </p:nvSpPr>
        <p:spPr>
          <a:xfrm>
            <a:off x="548640" y="5440680"/>
            <a:ext cx="11064240" cy="50292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600" b="1" i="0">
                <a:solidFill>
                  <a:srgbClr val="0F2A43"/>
                </a:solidFill>
                <a:latin typeface="Segoe UI"/>
              </a:rPr>
              <a:t>No diagnosis  ·  no medication changes  ·  no doses  ·  no urgency</a:t>
            </a:r>
          </a:p>
        </p:txBody>
      </p:sp>
      <p:sp>
        <p:nvSpPr>
          <p:cNvPr id="22" name="TextBox 21"/>
          <p:cNvSpPr txBox="1"/>
          <p:nvPr/>
        </p:nvSpPr>
        <p:spPr>
          <a:xfrm>
            <a:off x="548640" y="6108192"/>
            <a:ext cx="11064240" cy="274320"/>
          </a:xfrm>
          <a:prstGeom prst="rect">
            <a:avLst/>
          </a:prstGeom>
          <a:noFill/>
        </p:spPr>
        <p:txBody>
          <a:bodyPr wrap="square" anchor="t" lIns="73152" rIns="73152" tIns="27432" bIns="27432">
            <a:spAutoFit/>
          </a:bodyPr>
          <a:lstStyle/>
          <a:p>
            <a:pPr algn="ctr">
              <a:spcBef>
                <a:spcPts val="0"/>
              </a:spcBef>
              <a:spcAft>
                <a:spcPts val="0"/>
              </a:spcAft>
            </a:pPr>
            <a:r>
              <a:rPr sz="1500" b="0" i="1">
                <a:solidFill>
                  <a:srgbClr val="5B6B7B"/>
                </a:solidFill>
                <a:latin typeface="Segoe UI"/>
              </a:rPr>
              <a:t>Approval is a review decision, not clinical certification.</a:t>
            </a:r>
          </a:p>
        </p:txBody>
      </p:sp>
      <p:sp>
        <p:nvSpPr>
          <p:cNvPr id="23" name="TextBox 22"/>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24" name="TextBox 23"/>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Orchestration + persistence</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Execution order, parallel branches, and exact reuse.</a:t>
            </a:r>
          </a:p>
        </p:txBody>
      </p:sp>
      <p:sp>
        <p:nvSpPr>
          <p:cNvPr id="6" name="Rounded Rectangle 5"/>
          <p:cNvSpPr/>
          <p:nvPr/>
        </p:nvSpPr>
        <p:spPr>
          <a:xfrm>
            <a:off x="548640" y="1627632"/>
            <a:ext cx="5394960" cy="566928"/>
          </a:xfrm>
          <a:prstGeom prst="roundRect">
            <a:avLst>
              <a:gd name="adj" fmla="val 8000"/>
            </a:avLst>
          </a:prstGeom>
          <a:solidFill>
            <a:srgbClr val="1B3D5C"/>
          </a:solidFill>
          <a:ln w="12700">
            <a:solidFill>
              <a:srgbClr val="1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800" b="1" i="0">
                <a:solidFill>
                  <a:srgbClr val="FFFFFF"/>
                </a:solidFill>
                <a:latin typeface="Segoe UI"/>
              </a:rPr>
              <a:t>Analysis</a:t>
            </a:r>
          </a:p>
        </p:txBody>
      </p:sp>
      <p:cxnSp>
        <p:nvCxnSpPr>
          <p:cNvPr id="7" name="Connector 6"/>
          <p:cNvCxnSpPr/>
          <p:nvPr/>
        </p:nvCxnSpPr>
        <p:spPr>
          <a:xfrm>
            <a:off x="3246120" y="2194560"/>
            <a:ext cx="0" cy="137160"/>
          </a:xfrm>
          <a:prstGeom prst="line">
            <a:avLst/>
          </a:prstGeom>
          <a:ln w="2286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83080" y="2331720"/>
            <a:ext cx="2926080" cy="0"/>
          </a:xfrm>
          <a:prstGeom prst="line">
            <a:avLst/>
          </a:prstGeom>
          <a:ln w="26670">
            <a:solidFill>
              <a:srgbClr val="12B3A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783080" y="2331720"/>
            <a:ext cx="0" cy="128016"/>
          </a:xfrm>
          <a:prstGeom prst="line">
            <a:avLst/>
          </a:prstGeom>
          <a:ln w="2286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09160" y="2331720"/>
            <a:ext cx="0" cy="128016"/>
          </a:xfrm>
          <a:prstGeom prst="line">
            <a:avLst/>
          </a:prstGeom>
          <a:ln w="2286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468880"/>
            <a:ext cx="2468880" cy="694944"/>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700" b="1" i="0">
                <a:solidFill>
                  <a:srgbClr val="0F2A43"/>
                </a:solidFill>
                <a:latin typeface="Segoe UI"/>
              </a:rPr>
              <a:t>Summary</a:t>
            </a:r>
          </a:p>
        </p:txBody>
      </p:sp>
      <p:sp>
        <p:nvSpPr>
          <p:cNvPr id="12" name="Rounded Rectangle 11"/>
          <p:cNvSpPr/>
          <p:nvPr/>
        </p:nvSpPr>
        <p:spPr>
          <a:xfrm>
            <a:off x="3474720" y="2468880"/>
            <a:ext cx="2468880" cy="694944"/>
          </a:xfrm>
          <a:prstGeom prst="roundRect">
            <a:avLst>
              <a:gd name="adj" fmla="val 8000"/>
            </a:avLst>
          </a:prstGeom>
          <a:solidFill>
            <a:srgbClr val="F5F7FA"/>
          </a:solidFill>
          <a:ln w="12700">
            <a:solidFill>
              <a:srgbClr val="9FB3C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700" b="1" i="0">
                <a:solidFill>
                  <a:srgbClr val="0F2A43"/>
                </a:solidFill>
                <a:latin typeface="Segoe UI"/>
              </a:rPr>
              <a:t>Retrieval</a:t>
            </a:r>
          </a:p>
        </p:txBody>
      </p:sp>
      <p:cxnSp>
        <p:nvCxnSpPr>
          <p:cNvPr id="13" name="Connector 12"/>
          <p:cNvCxnSpPr/>
          <p:nvPr/>
        </p:nvCxnSpPr>
        <p:spPr>
          <a:xfrm>
            <a:off x="1783080" y="3163824"/>
            <a:ext cx="0" cy="173736"/>
          </a:xfrm>
          <a:prstGeom prst="line">
            <a:avLst/>
          </a:prstGeom>
          <a:ln w="2286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709160" y="3163824"/>
            <a:ext cx="0" cy="173736"/>
          </a:xfrm>
          <a:prstGeom prst="line">
            <a:avLst/>
          </a:prstGeom>
          <a:ln w="2286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83080" y="3337560"/>
            <a:ext cx="2926080" cy="0"/>
          </a:xfrm>
          <a:prstGeom prst="line">
            <a:avLst/>
          </a:prstGeom>
          <a:ln w="26670">
            <a:solidFill>
              <a:srgbClr val="12B3A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46120" y="3337560"/>
            <a:ext cx="0" cy="173736"/>
          </a:xfrm>
          <a:prstGeom prst="line">
            <a:avLst/>
          </a:prstGeom>
          <a:ln w="2286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520440"/>
            <a:ext cx="5394960" cy="566928"/>
          </a:xfrm>
          <a:prstGeom prst="roundRect">
            <a:avLst>
              <a:gd name="adj" fmla="val 8000"/>
            </a:avLst>
          </a:prstGeom>
          <a:solidFill>
            <a:srgbClr val="1B3D5C"/>
          </a:solidFill>
          <a:ln w="12700">
            <a:solidFill>
              <a:srgbClr val="1B3D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800" b="1" i="0">
                <a:solidFill>
                  <a:srgbClr val="FFFFFF"/>
                </a:solidFill>
                <a:latin typeface="Segoe UI"/>
              </a:rPr>
              <a:t>Join + fingerprint re-check</a:t>
            </a:r>
          </a:p>
        </p:txBody>
      </p:sp>
      <p:cxnSp>
        <p:nvCxnSpPr>
          <p:cNvPr id="18" name="Connector 17"/>
          <p:cNvCxnSpPr/>
          <p:nvPr/>
        </p:nvCxnSpPr>
        <p:spPr>
          <a:xfrm>
            <a:off x="3246120" y="4087368"/>
            <a:ext cx="0" cy="155448"/>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4251960"/>
            <a:ext cx="5394960" cy="566928"/>
          </a:xfrm>
          <a:prstGeom prst="roundRect">
            <a:avLst>
              <a:gd name="adj" fmla="val 8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800" b="1" i="0">
                <a:solidFill>
                  <a:srgbClr val="0F2A43"/>
                </a:solidFill>
                <a:latin typeface="Segoe UI"/>
              </a:rPr>
              <a:t>Recommendation</a:t>
            </a:r>
          </a:p>
        </p:txBody>
      </p:sp>
      <p:cxnSp>
        <p:nvCxnSpPr>
          <p:cNvPr id="20" name="Connector 19"/>
          <p:cNvCxnSpPr/>
          <p:nvPr/>
        </p:nvCxnSpPr>
        <p:spPr>
          <a:xfrm>
            <a:off x="3246120" y="4818888"/>
            <a:ext cx="0" cy="155448"/>
          </a:xfrm>
          <a:prstGeom prst="line">
            <a:avLst/>
          </a:prstGeom>
          <a:ln w="26670">
            <a:solidFill>
              <a:srgbClr val="12B3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4983480"/>
            <a:ext cx="5394960" cy="566928"/>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800" b="1" i="0">
                <a:solidFill>
                  <a:srgbClr val="0F2A43"/>
                </a:solidFill>
                <a:latin typeface="Segoe UI"/>
              </a:rPr>
              <a:t>Human review</a:t>
            </a:r>
          </a:p>
        </p:txBody>
      </p:sp>
      <p:sp>
        <p:nvSpPr>
          <p:cNvPr id="22" name="Rounded Rectangle 21"/>
          <p:cNvSpPr/>
          <p:nvPr/>
        </p:nvSpPr>
        <p:spPr>
          <a:xfrm>
            <a:off x="6583680" y="1627632"/>
            <a:ext cx="5029200" cy="822960"/>
          </a:xfrm>
          <a:prstGeom prst="roundRect">
            <a:avLst>
              <a:gd name="adj" fmla="val 6000"/>
            </a:avLst>
          </a:prstGeom>
          <a:solidFill>
            <a:srgbClr val="0E8C82"/>
          </a:solidFill>
          <a:ln w="12700">
            <a:solidFill>
              <a:srgbClr val="0E8C8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100"/>
              </a:spcAft>
            </a:pPr>
            <a:r>
              <a:rPr sz="2000" b="1" i="0">
                <a:solidFill>
                  <a:srgbClr val="FFFFFF"/>
                </a:solidFill>
                <a:latin typeface="Segoe UI"/>
              </a:rPr>
              <a:t>SQLite</a:t>
            </a:r>
          </a:p>
          <a:p>
            <a:pPr algn="ctr">
              <a:spcBef>
                <a:spcPts val="0"/>
              </a:spcBef>
              <a:spcAft>
                <a:spcPts val="0"/>
              </a:spcAft>
            </a:pPr>
            <a:r>
              <a:rPr sz="1400" b="0" i="0">
                <a:solidFill>
                  <a:srgbClr val="C9D6DF"/>
                </a:solidFill>
                <a:latin typeface="Segoe UI"/>
              </a:rPr>
              <a:t>immutable local results</a:t>
            </a:r>
          </a:p>
        </p:txBody>
      </p:sp>
      <p:sp>
        <p:nvSpPr>
          <p:cNvPr id="23" name="Rounded Rectangle 22"/>
          <p:cNvSpPr/>
          <p:nvPr/>
        </p:nvSpPr>
        <p:spPr>
          <a:xfrm>
            <a:off x="6583680" y="2670048"/>
            <a:ext cx="5029200" cy="45720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0F2A43"/>
                </a:solidFill>
                <a:latin typeface="Segoe UI"/>
              </a:rPr>
              <a:t>immutable records</a:t>
            </a:r>
          </a:p>
        </p:txBody>
      </p:sp>
      <p:sp>
        <p:nvSpPr>
          <p:cNvPr id="24" name="Rounded Rectangle 23"/>
          <p:cNvSpPr/>
          <p:nvPr/>
        </p:nvSpPr>
        <p:spPr>
          <a:xfrm>
            <a:off x="6583680" y="3218688"/>
            <a:ext cx="5029200" cy="45720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0F2A43"/>
                </a:solidFill>
                <a:latin typeface="Segoe UI"/>
              </a:rPr>
              <a:t>exact compatibility keys</a:t>
            </a:r>
          </a:p>
        </p:txBody>
      </p:sp>
      <p:sp>
        <p:nvSpPr>
          <p:cNvPr id="25" name="Rounded Rectangle 24"/>
          <p:cNvSpPr/>
          <p:nvPr/>
        </p:nvSpPr>
        <p:spPr>
          <a:xfrm>
            <a:off x="6583680" y="3767328"/>
            <a:ext cx="5029200" cy="45720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500" b="0" i="0">
                <a:solidFill>
                  <a:srgbClr val="0F2A43"/>
                </a:solidFill>
                <a:latin typeface="Segoe UI"/>
              </a:rPr>
              <a:t>revalidate on load</a:t>
            </a:r>
          </a:p>
        </p:txBody>
      </p:sp>
      <p:sp>
        <p:nvSpPr>
          <p:cNvPr id="26" name="Rounded Rectangle 25"/>
          <p:cNvSpPr/>
          <p:nvPr/>
        </p:nvSpPr>
        <p:spPr>
          <a:xfrm>
            <a:off x="6583680" y="4434840"/>
            <a:ext cx="5029200" cy="777240"/>
          </a:xfrm>
          <a:prstGeom prst="roundRect">
            <a:avLst>
              <a:gd name="adj" fmla="val 6000"/>
            </a:avLst>
          </a:prstGeom>
          <a:solidFill>
            <a:srgbClr val="E4F7F4"/>
          </a:solidFill>
          <a:ln w="12700">
            <a:solidFill>
              <a:srgbClr val="12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800" b="1" i="0">
                <a:solidFill>
                  <a:srgbClr val="0F2A43"/>
                </a:solidFill>
                <a:latin typeface="Segoe UI"/>
              </a:rPr>
              <a:t>No new Gemini call for a reused stage.</a:t>
            </a:r>
          </a:p>
          <a:p>
            <a:pPr algn="ctr">
              <a:spcBef>
                <a:spcPts val="0"/>
              </a:spcBef>
              <a:spcAft>
                <a:spcPts val="0"/>
              </a:spcAft>
            </a:pPr>
            <a:r>
              <a:rPr sz="1450" b="0" i="0">
                <a:solidFill>
                  <a:srgbClr val="5B6B7B"/>
                </a:solidFill>
                <a:latin typeface="Segoe UI"/>
              </a:rPr>
              <a:t>Exact keys + validated load.</a:t>
            </a:r>
          </a:p>
        </p:txBody>
      </p:sp>
      <p:sp>
        <p:nvSpPr>
          <p:cNvPr id="27" name="Rounded Rectangle 26"/>
          <p:cNvSpPr/>
          <p:nvPr/>
        </p:nvSpPr>
        <p:spPr>
          <a:xfrm>
            <a:off x="1158087" y="5623560"/>
            <a:ext cx="109728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reuse</a:t>
            </a:r>
          </a:p>
        </p:txBody>
      </p:sp>
      <p:sp>
        <p:nvSpPr>
          <p:cNvPr id="28" name="Rounded Rectangle 27"/>
          <p:cNvSpPr/>
          <p:nvPr/>
        </p:nvSpPr>
        <p:spPr>
          <a:xfrm>
            <a:off x="2346807" y="5623560"/>
            <a:ext cx="128016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generate</a:t>
            </a:r>
          </a:p>
        </p:txBody>
      </p:sp>
      <p:sp>
        <p:nvSpPr>
          <p:cNvPr id="29" name="Rounded Rectangle 28"/>
          <p:cNvSpPr/>
          <p:nvPr/>
        </p:nvSpPr>
        <p:spPr>
          <a:xfrm>
            <a:off x="3718407" y="5623560"/>
            <a:ext cx="128016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retrieve</a:t>
            </a:r>
          </a:p>
        </p:txBody>
      </p:sp>
      <p:sp>
        <p:nvSpPr>
          <p:cNvPr id="30" name="Rounded Rectangle 29"/>
          <p:cNvSpPr/>
          <p:nvPr/>
        </p:nvSpPr>
        <p:spPr>
          <a:xfrm>
            <a:off x="5090007" y="5623560"/>
            <a:ext cx="128016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abstain</a:t>
            </a:r>
          </a:p>
        </p:txBody>
      </p:sp>
      <p:sp>
        <p:nvSpPr>
          <p:cNvPr id="31" name="Rounded Rectangle 30"/>
          <p:cNvSpPr/>
          <p:nvPr/>
        </p:nvSpPr>
        <p:spPr>
          <a:xfrm>
            <a:off x="6461607" y="5623560"/>
            <a:ext cx="164592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await review</a:t>
            </a:r>
          </a:p>
        </p:txBody>
      </p:sp>
      <p:sp>
        <p:nvSpPr>
          <p:cNvPr id="32" name="Rounded Rectangle 31"/>
          <p:cNvSpPr/>
          <p:nvPr/>
        </p:nvSpPr>
        <p:spPr>
          <a:xfrm>
            <a:off x="8198967" y="5623560"/>
            <a:ext cx="137160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approved</a:t>
            </a:r>
          </a:p>
        </p:txBody>
      </p:sp>
      <p:sp>
        <p:nvSpPr>
          <p:cNvPr id="33" name="Rounded Rectangle 32"/>
          <p:cNvSpPr/>
          <p:nvPr/>
        </p:nvSpPr>
        <p:spPr>
          <a:xfrm>
            <a:off x="9662007" y="5623560"/>
            <a:ext cx="1371600" cy="347472"/>
          </a:xfrm>
          <a:prstGeom prst="roundRect">
            <a:avLst>
              <a:gd name="adj" fmla="val 50000"/>
            </a:avLst>
          </a:prstGeom>
          <a:solidFill>
            <a:srgbClr val="FFFFFF"/>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400" b="0" i="0">
                <a:solidFill>
                  <a:srgbClr val="5B6B7B"/>
                </a:solidFill>
                <a:latin typeface="Segoe UI"/>
              </a:rPr>
              <a:t>rejected</a:t>
            </a:r>
          </a:p>
        </p:txBody>
      </p:sp>
      <p:sp>
        <p:nvSpPr>
          <p:cNvPr id="34" name="TextBox 33"/>
          <p:cNvSpPr txBox="1"/>
          <p:nvPr/>
        </p:nvSpPr>
        <p:spPr>
          <a:xfrm>
            <a:off x="548640" y="6108192"/>
            <a:ext cx="11064240" cy="274320"/>
          </a:xfrm>
          <a:prstGeom prst="rect">
            <a:avLst/>
          </a:prstGeom>
          <a:noFill/>
        </p:spPr>
        <p:txBody>
          <a:bodyPr wrap="square" anchor="t" lIns="73152" rIns="73152" tIns="27432" bIns="27432">
            <a:spAutoFit/>
          </a:bodyPr>
          <a:lstStyle/>
          <a:p>
            <a:pPr algn="ctr">
              <a:spcBef>
                <a:spcPts val="0"/>
              </a:spcBef>
              <a:spcAft>
                <a:spcPts val="0"/>
              </a:spcAft>
            </a:pPr>
            <a:r>
              <a:rPr sz="1450" b="0" i="1">
                <a:solidFill>
                  <a:srgbClr val="5B6B7B"/>
                </a:solidFill>
                <a:latin typeface="Segoe UI"/>
              </a:rPr>
              <a:t>A failed branch preserves every saved upstream stage.</a:t>
            </a:r>
          </a:p>
        </p:txBody>
      </p:sp>
      <p:sp>
        <p:nvSpPr>
          <p:cNvPr id="35" name="TextBox 34"/>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36" name="TextBox 35"/>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64240" cy="658368"/>
          </a:xfrm>
          <a:prstGeom prst="rect">
            <a:avLst/>
          </a:prstGeom>
          <a:noFill/>
        </p:spPr>
        <p:txBody>
          <a:bodyPr wrap="square" anchor="t" lIns="73152" rIns="73152" tIns="27432" bIns="27432">
            <a:spAutoFit/>
          </a:bodyPr>
          <a:lstStyle/>
          <a:p>
            <a:pPr algn="l">
              <a:spcBef>
                <a:spcPts val="0"/>
              </a:spcBef>
              <a:spcAft>
                <a:spcPts val="0"/>
              </a:spcAft>
            </a:pPr>
            <a:r>
              <a:rPr sz="2700" b="1" i="0">
                <a:solidFill>
                  <a:srgbClr val="0F2A43"/>
                </a:solidFill>
                <a:latin typeface="Segoe UI"/>
              </a:rPr>
              <a:t>Validation and limitations</a:t>
            </a:r>
          </a:p>
        </p:txBody>
      </p:sp>
      <p:sp>
        <p:nvSpPr>
          <p:cNvPr id="4" name="Rounded Rectangle 3"/>
          <p:cNvSpPr/>
          <p:nvPr/>
        </p:nvSpPr>
        <p:spPr>
          <a:xfrm>
            <a:off x="576072" y="1033271"/>
            <a:ext cx="1371600" cy="64008"/>
          </a:xfrm>
          <a:prstGeom prst="roundRect">
            <a:avLst/>
          </a:prstGeom>
          <a:solidFill>
            <a:srgbClr val="12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33856"/>
            <a:ext cx="10698480" cy="384048"/>
          </a:xfrm>
          <a:prstGeom prst="rect">
            <a:avLst/>
          </a:prstGeom>
          <a:noFill/>
        </p:spPr>
        <p:txBody>
          <a:bodyPr wrap="square" anchor="t" lIns="73152" rIns="73152" tIns="27432" bIns="27432">
            <a:spAutoFit/>
          </a:bodyPr>
          <a:lstStyle/>
          <a:p>
            <a:pPr algn="l">
              <a:spcBef>
                <a:spcPts val="0"/>
              </a:spcBef>
              <a:spcAft>
                <a:spcPts val="0"/>
              </a:spcAft>
            </a:pPr>
            <a:r>
              <a:rPr sz="1600" b="0" i="1">
                <a:solidFill>
                  <a:srgbClr val="5B6B7B"/>
                </a:solidFill>
                <a:latin typeface="Segoe UI"/>
              </a:rPr>
              <a:t>Offline evidence is explicit; live behavior is checked separately.</a:t>
            </a:r>
          </a:p>
        </p:txBody>
      </p:sp>
      <p:sp>
        <p:nvSpPr>
          <p:cNvPr id="6" name="Rounded Rectangle 5"/>
          <p:cNvSpPr/>
          <p:nvPr/>
        </p:nvSpPr>
        <p:spPr>
          <a:xfrm>
            <a:off x="548640" y="1691640"/>
            <a:ext cx="3566160" cy="178308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749808" y="1828800"/>
            <a:ext cx="1097280" cy="640080"/>
          </a:xfrm>
          <a:prstGeom prst="rect">
            <a:avLst/>
          </a:prstGeom>
          <a:noFill/>
        </p:spPr>
        <p:txBody>
          <a:bodyPr wrap="square" anchor="t" lIns="73152" rIns="73152" tIns="27432" bIns="27432">
            <a:spAutoFit/>
          </a:bodyPr>
          <a:lstStyle/>
          <a:p>
            <a:pPr algn="l">
              <a:spcBef>
                <a:spcPts val="0"/>
              </a:spcBef>
              <a:spcAft>
                <a:spcPts val="0"/>
              </a:spcAft>
            </a:pPr>
            <a:r>
              <a:rPr sz="3800" b="1" i="0">
                <a:solidFill>
                  <a:srgbClr val="12B3A6"/>
                </a:solidFill>
                <a:latin typeface="Segoe UI"/>
              </a:rPr>
              <a:t>173</a:t>
            </a:r>
          </a:p>
        </p:txBody>
      </p:sp>
      <p:sp>
        <p:nvSpPr>
          <p:cNvPr id="8" name="TextBox 7"/>
          <p:cNvSpPr txBox="1"/>
          <p:nvPr/>
        </p:nvSpPr>
        <p:spPr>
          <a:xfrm>
            <a:off x="1874519" y="1901952"/>
            <a:ext cx="2057400" cy="640080"/>
          </a:xfrm>
          <a:prstGeom prst="rect">
            <a:avLst/>
          </a:prstGeom>
          <a:noFill/>
        </p:spPr>
        <p:txBody>
          <a:bodyPr wrap="square" anchor="t" lIns="73152" rIns="73152" tIns="27432" bIns="27432">
            <a:spAutoFit/>
          </a:bodyPr>
          <a:lstStyle/>
          <a:p>
            <a:pPr algn="l">
              <a:spcBef>
                <a:spcPts val="0"/>
              </a:spcBef>
              <a:spcAft>
                <a:spcPts val="0"/>
              </a:spcAft>
            </a:pPr>
            <a:r>
              <a:rPr sz="1800" b="1" i="0">
                <a:solidFill>
                  <a:srgbClr val="0F2A43"/>
                </a:solidFill>
                <a:latin typeface="Segoe UI"/>
              </a:rPr>
              <a:t>tests passed</a:t>
            </a:r>
          </a:p>
        </p:txBody>
      </p:sp>
      <p:sp>
        <p:nvSpPr>
          <p:cNvPr id="9" name="TextBox 8"/>
          <p:cNvSpPr txBox="1"/>
          <p:nvPr/>
        </p:nvSpPr>
        <p:spPr>
          <a:xfrm>
            <a:off x="749808" y="2606040"/>
            <a:ext cx="3154680" cy="685800"/>
          </a:xfrm>
          <a:prstGeom prst="rect">
            <a:avLst/>
          </a:prstGeom>
          <a:noFill/>
        </p:spPr>
        <p:txBody>
          <a:bodyPr wrap="square" anchor="t" lIns="73152" rIns="73152" tIns="27432" bIns="27432">
            <a:spAutoFit/>
          </a:bodyPr>
          <a:lstStyle/>
          <a:p>
            <a:pPr algn="l">
              <a:spcBef>
                <a:spcPts val="0"/>
              </a:spcBef>
              <a:spcAft>
                <a:spcPts val="0"/>
              </a:spcAft>
            </a:pPr>
            <a:r>
              <a:rPr sz="1450" b="0" i="0">
                <a:solidFill>
                  <a:srgbClr val="5B6B7B"/>
                </a:solidFill>
                <a:latin typeface="Segoe UI"/>
              </a:rPr>
              <a:t>1 optional test skipped; Ruff + lockfile clean</a:t>
            </a:r>
          </a:p>
        </p:txBody>
      </p:sp>
      <p:sp>
        <p:nvSpPr>
          <p:cNvPr id="10" name="Rounded Rectangle 9"/>
          <p:cNvSpPr/>
          <p:nvPr/>
        </p:nvSpPr>
        <p:spPr>
          <a:xfrm>
            <a:off x="4297679" y="1691640"/>
            <a:ext cx="3566160" cy="178308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4498847" y="1828800"/>
            <a:ext cx="1097280" cy="640080"/>
          </a:xfrm>
          <a:prstGeom prst="rect">
            <a:avLst/>
          </a:prstGeom>
          <a:noFill/>
        </p:spPr>
        <p:txBody>
          <a:bodyPr wrap="square" anchor="t" lIns="73152" rIns="73152" tIns="27432" bIns="27432">
            <a:spAutoFit/>
          </a:bodyPr>
          <a:lstStyle/>
          <a:p>
            <a:pPr algn="l">
              <a:spcBef>
                <a:spcPts val="0"/>
              </a:spcBef>
              <a:spcAft>
                <a:spcPts val="0"/>
              </a:spcAft>
            </a:pPr>
            <a:r>
              <a:rPr sz="3800" b="1" i="0">
                <a:solidFill>
                  <a:srgbClr val="12B3A6"/>
                </a:solidFill>
                <a:latin typeface="Segoe UI"/>
              </a:rPr>
              <a:t>0</a:t>
            </a:r>
          </a:p>
        </p:txBody>
      </p:sp>
      <p:sp>
        <p:nvSpPr>
          <p:cNvPr id="12" name="TextBox 11"/>
          <p:cNvSpPr txBox="1"/>
          <p:nvPr/>
        </p:nvSpPr>
        <p:spPr>
          <a:xfrm>
            <a:off x="5623559" y="1901952"/>
            <a:ext cx="2057400" cy="640080"/>
          </a:xfrm>
          <a:prstGeom prst="rect">
            <a:avLst/>
          </a:prstGeom>
          <a:noFill/>
        </p:spPr>
        <p:txBody>
          <a:bodyPr wrap="square" anchor="t" lIns="73152" rIns="73152" tIns="27432" bIns="27432">
            <a:spAutoFit/>
          </a:bodyPr>
          <a:lstStyle/>
          <a:p>
            <a:pPr algn="l">
              <a:spcBef>
                <a:spcPts val="0"/>
              </a:spcBef>
              <a:spcAft>
                <a:spcPts val="0"/>
              </a:spcAft>
            </a:pPr>
            <a:r>
              <a:rPr sz="1800" b="1" i="0">
                <a:solidFill>
                  <a:srgbClr val="0F2A43"/>
                </a:solidFill>
                <a:latin typeface="Segoe UI"/>
              </a:rPr>
              <a:t>API calls in mocked demo</a:t>
            </a:r>
          </a:p>
        </p:txBody>
      </p:sp>
      <p:sp>
        <p:nvSpPr>
          <p:cNvPr id="13" name="TextBox 12"/>
          <p:cNvSpPr txBox="1"/>
          <p:nvPr/>
        </p:nvSpPr>
        <p:spPr>
          <a:xfrm>
            <a:off x="4498847" y="2606040"/>
            <a:ext cx="3154680" cy="685800"/>
          </a:xfrm>
          <a:prstGeom prst="rect">
            <a:avLst/>
          </a:prstGeom>
          <a:noFill/>
        </p:spPr>
        <p:txBody>
          <a:bodyPr wrap="square" anchor="t" lIns="73152" rIns="73152" tIns="27432" bIns="27432">
            <a:spAutoFit/>
          </a:bodyPr>
          <a:lstStyle/>
          <a:p>
            <a:pPr algn="l">
              <a:spcBef>
                <a:spcPts val="0"/>
              </a:spcBef>
              <a:spcAft>
                <a:spcPts val="0"/>
              </a:spcAft>
            </a:pPr>
            <a:r>
              <a:rPr sz="1450" b="0" i="0">
                <a:solidFill>
                  <a:srgbClr val="5B6B7B"/>
                </a:solidFill>
                <a:latin typeface="Segoe UI"/>
              </a:rPr>
              <a:t>No network, key, or model download</a:t>
            </a:r>
          </a:p>
        </p:txBody>
      </p:sp>
      <p:sp>
        <p:nvSpPr>
          <p:cNvPr id="14" name="Rounded Rectangle 13"/>
          <p:cNvSpPr/>
          <p:nvPr/>
        </p:nvSpPr>
        <p:spPr>
          <a:xfrm>
            <a:off x="8046719" y="1691640"/>
            <a:ext cx="3566160" cy="1783080"/>
          </a:xfrm>
          <a:prstGeom prst="roundRect">
            <a:avLst>
              <a:gd name="adj" fmla="val 8000"/>
            </a:avLst>
          </a:prstGeom>
          <a:solidFill>
            <a:srgbClr val="F5F7FA"/>
          </a:solidFill>
          <a:ln w="12700">
            <a:solidFill>
              <a:srgbClr val="D6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247888" y="1828800"/>
            <a:ext cx="1097280" cy="640080"/>
          </a:xfrm>
          <a:prstGeom prst="rect">
            <a:avLst/>
          </a:prstGeom>
          <a:noFill/>
        </p:spPr>
        <p:txBody>
          <a:bodyPr wrap="square" anchor="t" lIns="73152" rIns="73152" tIns="27432" bIns="27432">
            <a:spAutoFit/>
          </a:bodyPr>
          <a:lstStyle/>
          <a:p>
            <a:pPr algn="l">
              <a:spcBef>
                <a:spcPts val="0"/>
              </a:spcBef>
              <a:spcAft>
                <a:spcPts val="0"/>
              </a:spcAft>
            </a:pPr>
            <a:r>
              <a:rPr sz="3800" b="1" i="0">
                <a:solidFill>
                  <a:srgbClr val="12B3A6"/>
                </a:solidFill>
                <a:latin typeface="Segoe UI"/>
              </a:rPr>
              <a:t>1</a:t>
            </a:r>
          </a:p>
        </p:txBody>
      </p:sp>
      <p:sp>
        <p:nvSpPr>
          <p:cNvPr id="16" name="TextBox 15"/>
          <p:cNvSpPr txBox="1"/>
          <p:nvPr/>
        </p:nvSpPr>
        <p:spPr>
          <a:xfrm>
            <a:off x="9372599" y="1901952"/>
            <a:ext cx="2057400" cy="640080"/>
          </a:xfrm>
          <a:prstGeom prst="rect">
            <a:avLst/>
          </a:prstGeom>
          <a:noFill/>
        </p:spPr>
        <p:txBody>
          <a:bodyPr wrap="square" anchor="t" lIns="73152" rIns="73152" tIns="27432" bIns="27432">
            <a:spAutoFit/>
          </a:bodyPr>
          <a:lstStyle/>
          <a:p>
            <a:pPr algn="l">
              <a:spcBef>
                <a:spcPts val="0"/>
              </a:spcBef>
              <a:spcAft>
                <a:spcPts val="0"/>
              </a:spcAft>
            </a:pPr>
            <a:r>
              <a:rPr sz="1800" b="1" i="0">
                <a:solidFill>
                  <a:srgbClr val="0F2A43"/>
                </a:solidFill>
                <a:latin typeface="Segoe UI"/>
              </a:rPr>
              <a:t>manual live smoke request</a:t>
            </a:r>
          </a:p>
        </p:txBody>
      </p:sp>
      <p:sp>
        <p:nvSpPr>
          <p:cNvPr id="17" name="TextBox 16"/>
          <p:cNvSpPr txBox="1"/>
          <p:nvPr/>
        </p:nvSpPr>
        <p:spPr>
          <a:xfrm>
            <a:off x="8247888" y="2606040"/>
            <a:ext cx="3154680" cy="685800"/>
          </a:xfrm>
          <a:prstGeom prst="rect">
            <a:avLst/>
          </a:prstGeom>
          <a:noFill/>
        </p:spPr>
        <p:txBody>
          <a:bodyPr wrap="square" anchor="t" lIns="73152" rIns="73152" tIns="27432" bIns="27432">
            <a:spAutoFit/>
          </a:bodyPr>
          <a:lstStyle/>
          <a:p>
            <a:pPr algn="l">
              <a:spcBef>
                <a:spcPts val="0"/>
              </a:spcBef>
              <a:spcAft>
                <a:spcPts val="0"/>
              </a:spcAft>
            </a:pPr>
            <a:r>
              <a:rPr sz="1450" b="0" i="0">
                <a:solidFill>
                  <a:srgbClr val="5B6B7B"/>
                </a:solidFill>
                <a:latin typeface="Segoe UI"/>
              </a:rPr>
              <a:t>Passed separately from offline tests</a:t>
            </a:r>
          </a:p>
        </p:txBody>
      </p:sp>
      <p:sp>
        <p:nvSpPr>
          <p:cNvPr id="18" name="Rounded Rectangle 17"/>
          <p:cNvSpPr/>
          <p:nvPr/>
        </p:nvSpPr>
        <p:spPr>
          <a:xfrm>
            <a:off x="548640" y="3749039"/>
            <a:ext cx="5486400" cy="1691640"/>
          </a:xfrm>
          <a:prstGeom prst="roundRect">
            <a:avLst>
              <a:gd name="adj" fmla="val 6000"/>
            </a:avLst>
          </a:prstGeom>
          <a:solidFill>
            <a:srgbClr val="FDF2D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9" name="TextBox 18"/>
          <p:cNvSpPr txBox="1"/>
          <p:nvPr/>
        </p:nvSpPr>
        <p:spPr>
          <a:xfrm>
            <a:off x="786384" y="3877056"/>
            <a:ext cx="502920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Limitation: not a medical device</a:t>
            </a:r>
          </a:p>
        </p:txBody>
      </p:sp>
      <p:sp>
        <p:nvSpPr>
          <p:cNvPr id="20" name="TextBox 19"/>
          <p:cNvSpPr txBox="1"/>
          <p:nvPr/>
        </p:nvSpPr>
        <p:spPr>
          <a:xfrm>
            <a:off x="786384" y="4407408"/>
            <a:ext cx="4983480" cy="777240"/>
          </a:xfrm>
          <a:prstGeom prst="rect">
            <a:avLst/>
          </a:prstGeom>
          <a:noFill/>
        </p:spPr>
        <p:txBody>
          <a:bodyPr wrap="square" anchor="t" lIns="73152" rIns="73152" tIns="27432" bIns="27432">
            <a:spAutoFit/>
          </a:bodyPr>
          <a:lstStyle/>
          <a:p>
            <a:pPr algn="l">
              <a:spcBef>
                <a:spcPts val="0"/>
              </a:spcBef>
              <a:spcAft>
                <a:spcPts val="0"/>
              </a:spcAft>
            </a:pPr>
            <a:r>
              <a:rPr sz="1700" b="0" i="0">
                <a:solidFill>
                  <a:srgbClr val="1B2733"/>
                </a:solidFill>
                <a:latin typeface="Segoe UI"/>
              </a:rPr>
              <a:t>Synthetic educational demo only. No diagnosis, treatment, or clinical advice.</a:t>
            </a:r>
          </a:p>
        </p:txBody>
      </p:sp>
      <p:sp>
        <p:nvSpPr>
          <p:cNvPr id="21" name="Rounded Rectangle 20"/>
          <p:cNvSpPr/>
          <p:nvPr/>
        </p:nvSpPr>
        <p:spPr>
          <a:xfrm>
            <a:off x="6126480" y="3749039"/>
            <a:ext cx="5486400" cy="1691640"/>
          </a:xfrm>
          <a:prstGeom prst="roundRect">
            <a:avLst>
              <a:gd name="adj" fmla="val 6000"/>
            </a:avLst>
          </a:prstGeom>
          <a:solidFill>
            <a:srgbClr val="FDF2DF"/>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2" name="TextBox 21"/>
          <p:cNvSpPr txBox="1"/>
          <p:nvPr/>
        </p:nvSpPr>
        <p:spPr>
          <a:xfrm>
            <a:off x="6364224" y="3877056"/>
            <a:ext cx="5029200" cy="365760"/>
          </a:xfrm>
          <a:prstGeom prst="rect">
            <a:avLst/>
          </a:prstGeom>
          <a:noFill/>
        </p:spPr>
        <p:txBody>
          <a:bodyPr wrap="square" anchor="t" lIns="73152" rIns="73152" tIns="27432" bIns="27432">
            <a:spAutoFit/>
          </a:bodyPr>
          <a:lstStyle/>
          <a:p>
            <a:pPr algn="l">
              <a:spcBef>
                <a:spcPts val="0"/>
              </a:spcBef>
              <a:spcAft>
                <a:spcPts val="0"/>
              </a:spcAft>
            </a:pPr>
            <a:r>
              <a:rPr sz="2000" b="1" i="0">
                <a:solidFill>
                  <a:srgbClr val="0F2A43"/>
                </a:solidFill>
                <a:latin typeface="Segoe UI"/>
              </a:rPr>
              <a:t>Limitation: PDFs and similarity</a:t>
            </a:r>
          </a:p>
        </p:txBody>
      </p:sp>
      <p:sp>
        <p:nvSpPr>
          <p:cNvPr id="23" name="TextBox 22"/>
          <p:cNvSpPr txBox="1"/>
          <p:nvPr/>
        </p:nvSpPr>
        <p:spPr>
          <a:xfrm>
            <a:off x="6364224" y="4407408"/>
            <a:ext cx="4983480" cy="777240"/>
          </a:xfrm>
          <a:prstGeom prst="rect">
            <a:avLst/>
          </a:prstGeom>
          <a:noFill/>
        </p:spPr>
        <p:txBody>
          <a:bodyPr wrap="square" anchor="t" lIns="73152" rIns="73152" tIns="27432" bIns="27432">
            <a:spAutoFit/>
          </a:bodyPr>
          <a:lstStyle/>
          <a:p>
            <a:pPr algn="l">
              <a:spcBef>
                <a:spcPts val="0"/>
              </a:spcBef>
              <a:spcAft>
                <a:spcPts val="0"/>
              </a:spcAft>
            </a:pPr>
            <a:r>
              <a:rPr sz="1700" b="0" i="0">
                <a:solidFill>
                  <a:srgbClr val="1B2733"/>
                </a:solidFill>
                <a:latin typeface="Segoe UI"/>
              </a:rPr>
              <a:t>Scanned PDFs need OCR, which is out of scope. Similarity is not confidence.</a:t>
            </a:r>
          </a:p>
        </p:txBody>
      </p:sp>
      <p:sp>
        <p:nvSpPr>
          <p:cNvPr id="24" name="Rounded Rectangle 23"/>
          <p:cNvSpPr/>
          <p:nvPr/>
        </p:nvSpPr>
        <p:spPr>
          <a:xfrm>
            <a:off x="548640" y="5669280"/>
            <a:ext cx="11064240" cy="621792"/>
          </a:xfrm>
          <a:prstGeom prst="roundRect">
            <a:avLst>
              <a:gd name="adj" fmla="val 8000"/>
            </a:avLst>
          </a:prstGeom>
          <a:solidFill>
            <a:srgbClr val="0F2A43"/>
          </a:solidFill>
          <a:ln w="12700">
            <a:solidFill>
              <a:srgbClr val="0F2A4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0"/>
              </a:spcAft>
            </a:pPr>
            <a:r>
              <a:rPr sz="1800" b="1" i="0">
                <a:solidFill>
                  <a:srgbClr val="FFFFFF"/>
                </a:solidFill>
                <a:latin typeface="Segoe UI"/>
              </a:rPr>
              <a:t>Show the source.  Decline when unsure.  Let a human decide.</a:t>
            </a:r>
          </a:p>
        </p:txBody>
      </p:sp>
      <p:sp>
        <p:nvSpPr>
          <p:cNvPr id="25" name="TextBox 24"/>
          <p:cNvSpPr txBox="1"/>
          <p:nvPr/>
        </p:nvSpPr>
        <p:spPr>
          <a:xfrm>
            <a:off x="502920" y="6446520"/>
            <a:ext cx="8686800" cy="274320"/>
          </a:xfrm>
          <a:prstGeom prst="rect">
            <a:avLst/>
          </a:prstGeom>
          <a:noFill/>
        </p:spPr>
        <p:txBody>
          <a:bodyPr wrap="square" anchor="t" lIns="73152" rIns="73152" tIns="27432" bIns="27432">
            <a:spAutoFit/>
          </a:bodyPr>
          <a:lstStyle/>
          <a:p>
            <a:pPr algn="l">
              <a:spcBef>
                <a:spcPts val="0"/>
              </a:spcBef>
              <a:spcAft>
                <a:spcPts val="0"/>
              </a:spcAft>
            </a:pPr>
            <a:r>
              <a:rPr sz="1000" b="0" i="0">
                <a:solidFill>
                  <a:srgbClr val="5B6B7B"/>
                </a:solidFill>
                <a:latin typeface="Segoe UI"/>
              </a:rPr>
              <a:t>AI Clinical Report Summarization Assistant  ·  synthetic-data capstone</a:t>
            </a:r>
          </a:p>
        </p:txBody>
      </p:sp>
      <p:sp>
        <p:nvSpPr>
          <p:cNvPr id="26" name="TextBox 25"/>
          <p:cNvSpPr txBox="1"/>
          <p:nvPr/>
        </p:nvSpPr>
        <p:spPr>
          <a:xfrm>
            <a:off x="10424160" y="6446520"/>
            <a:ext cx="1280160" cy="274320"/>
          </a:xfrm>
          <a:prstGeom prst="rect">
            <a:avLst/>
          </a:prstGeom>
          <a:noFill/>
        </p:spPr>
        <p:txBody>
          <a:bodyPr wrap="square" anchor="t" lIns="73152" rIns="73152" tIns="27432" bIns="27432">
            <a:spAutoFit/>
          </a:bodyPr>
          <a:lstStyle/>
          <a:p>
            <a:pPr algn="r">
              <a:spcBef>
                <a:spcPts val="0"/>
              </a:spcBef>
              <a:spcAft>
                <a:spcPts val="0"/>
              </a:spcAft>
            </a:pPr>
            <a:r>
              <a:rPr sz="1000" b="0" i="0">
                <a:solidFill>
                  <a:srgbClr val="5B6B7B"/>
                </a:solidFill>
                <a:latin typeface="Segoe UI"/>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Clinical Report Summarization Assistant</dc:title>
  <dc:subject/>
  <dc:creator>Team 1</dc:creator>
  <cp:keywords/>
  <dc:description>9-slide visual overview: business problem, architecture, five technical sections, validation and limitations.</dc:description>
  <cp:lastModifiedBy>Steve Canny</cp:lastModifiedBy>
  <cp:revision>1</cp:revision>
  <dcterms:created xsi:type="dcterms:W3CDTF">2013-01-27T09:14:16Z</dcterms:created>
  <dcterms:modified xsi:type="dcterms:W3CDTF">2013-01-27T09:15:58Z</dcterms:modified>
  <cp:category/>
</cp:coreProperties>
</file>